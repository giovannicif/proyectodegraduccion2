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e9a136e0ec4c51" /><Relationship Type="http://schemas.openxmlformats.org/officeDocument/2006/relationships/extended-properties" Target="/docProps/app.xml" Id="R50bfe26ba41e4ff5" /><Relationship Type="http://schemas.openxmlformats.org/officeDocument/2006/relationships/officeDocument" Target="/ppt/presentation.xml" Id="Rd0775466f98644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208dded85740ee"/>
  </p:sldMasterIdLst>
  <p:notesMasterIdLst>
    <p:notesMasterId xmlns:r="http://schemas.openxmlformats.org/officeDocument/2006/relationships" r:id="R0f878226d4b54801"/>
  </p:notesMasterIdLst>
  <p:sldIdLst>
    <p:sldId xmlns:r="http://schemas.openxmlformats.org/officeDocument/2006/relationships" id="256" r:id="R667836a712e14d82"/>
    <p:sldId xmlns:r="http://schemas.openxmlformats.org/officeDocument/2006/relationships" id="257" r:id="Rc6d91f27905a4c84"/>
    <p:sldId xmlns:r="http://schemas.openxmlformats.org/officeDocument/2006/relationships" id="258" r:id="Ra5e62944bebe4c0a"/>
    <p:sldId xmlns:r="http://schemas.openxmlformats.org/officeDocument/2006/relationships" id="259" r:id="R136a6d8a84d04706"/>
    <p:sldId xmlns:r="http://schemas.openxmlformats.org/officeDocument/2006/relationships" id="260" r:id="R6cf589803d784511"/>
    <p:sldId xmlns:r="http://schemas.openxmlformats.org/officeDocument/2006/relationships" id="261" r:id="R16ce00b021ae495f"/>
    <p:sldId xmlns:r="http://schemas.openxmlformats.org/officeDocument/2006/relationships" id="262" r:id="R24d10bc941164dc3"/>
    <p:sldId xmlns:r="http://schemas.openxmlformats.org/officeDocument/2006/relationships" id="263" r:id="R2efd366b14534d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791b4bfcd646dd" /><Relationship Type="http://schemas.openxmlformats.org/officeDocument/2006/relationships/slideMaster" Target="/ppt/slideMasters/slideMaster1.xml" Id="R50208dded85740ee" /><Relationship Type="http://schemas.openxmlformats.org/officeDocument/2006/relationships/notesMaster" Target="/ppt/notesMasters/notesMaster1.xml" Id="R0f878226d4b54801" /><Relationship Type="http://schemas.openxmlformats.org/officeDocument/2006/relationships/presProps" Target="/ppt/presProps.xml" Id="R856ff2caf9f44f63" /><Relationship Type="http://schemas.openxmlformats.org/officeDocument/2006/relationships/tableStyles" Target="/ppt/tableStyles.xml" Id="R4c00905b833642fb" /><Relationship Type="http://schemas.openxmlformats.org/officeDocument/2006/relationships/slide" Target="/ppt/slides/slide1.xml" Id="R667836a712e14d82" /><Relationship Type="http://schemas.openxmlformats.org/officeDocument/2006/relationships/slide" Target="/ppt/slides/slide2.xml" Id="Rc6d91f27905a4c84" /><Relationship Type="http://schemas.openxmlformats.org/officeDocument/2006/relationships/slide" Target="/ppt/slides/slide3.xml" Id="Ra5e62944bebe4c0a" /><Relationship Type="http://schemas.openxmlformats.org/officeDocument/2006/relationships/slide" Target="/ppt/slides/slide4.xml" Id="R136a6d8a84d04706" /><Relationship Type="http://schemas.openxmlformats.org/officeDocument/2006/relationships/slide" Target="/ppt/slides/slide5.xml" Id="R6cf589803d784511" /><Relationship Type="http://schemas.openxmlformats.org/officeDocument/2006/relationships/slide" Target="/ppt/slides/slide6.xml" Id="R16ce00b021ae495f" /><Relationship Type="http://schemas.openxmlformats.org/officeDocument/2006/relationships/slide" Target="/ppt/slides/slide7.xml" Id="R24d10bc941164dc3" /><Relationship Type="http://schemas.openxmlformats.org/officeDocument/2006/relationships/slide" Target="/ppt/slides/slide8.xml" Id="R2efd366b1453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7483c90f8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88bab4ce5947ea" /><Relationship Type="http://schemas.openxmlformats.org/officeDocument/2006/relationships/notesMaster" Target="/ppt/notesMasters/notesMaster1.xml" Id="R0e5be30b81a14e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0ad948bbba4c2b" /><Relationship Type="http://schemas.openxmlformats.org/officeDocument/2006/relationships/notesMaster" Target="/ppt/notesMasters/notesMaster1.xml" Id="Rcb081da58d3e47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08f350f8e47cf" /><Relationship Type="http://schemas.openxmlformats.org/officeDocument/2006/relationships/notesMaster" Target="/ppt/notesMasters/notesMaster1.xml" Id="R58f05d4fd7d446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f7730c7cc24087" /><Relationship Type="http://schemas.openxmlformats.org/officeDocument/2006/relationships/notesMaster" Target="/ppt/notesMasters/notesMaster1.xml" Id="R9d1505621c4344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7493262bac43cb" /><Relationship Type="http://schemas.openxmlformats.org/officeDocument/2006/relationships/notesMaster" Target="/ppt/notesMasters/notesMaster1.xml" Id="Rccf8eca77fc94c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e5efc14e144df8" /><Relationship Type="http://schemas.openxmlformats.org/officeDocument/2006/relationships/notesMaster" Target="/ppt/notesMasters/notesMaster1.xml" Id="R7ee66d4d111d41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2c6cc2a7c84924" /><Relationship Type="http://schemas.openxmlformats.org/officeDocument/2006/relationships/notesMaster" Target="/ppt/notesMasters/notesMaster1.xml" Id="Rf36b6166212247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be25de4562484e" /><Relationship Type="http://schemas.openxmlformats.org/officeDocument/2006/relationships/notesMaster" Target="/ppt/notesMasters/notesMaster1.xml" Id="Rd99c509891a540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Cronograma proyecto de graduacion excel .xml aportado por el usuario. Se conservan ID, nombres completos, fechas y duración de cada tarea. Duración en días = horas XML / 8, según MinutesPerDay=480. Inicio de las tareas a las 08:00 y fin a las 17:00 según XML. El eje del Gantt representa días calendario con fin inclusivo. El XML conserva 0 % de avance.</a:t>
            </a:r>
          </a:p>
          <a:p xmlns:a="http://schemas.openxmlformats.org/drawingml/2006/main">
            <a:r>
              <a:t>{"UID":"1","ID":"1","Name":"Módulo de Usuarios y Roles","OutlineLevel":"1","Start":"2026-03-16T08:00:00","Finish":"2026-04-17T17:00:00","Duration":"PT200H0M0S","PercentComplete":"0"}</a:t>
            </a:r>
          </a:p>
          <a:p xmlns:a="http://schemas.openxmlformats.org/drawingml/2006/main">
            <a:r>
              <a:t>{"UID":"8","ID":"8","Name":"Módulo de Gestión y Control de Pedidos","OutlineLevel":"1","Start":"2026-04-20T08:00:00","Finish":"2026-05-22T17:00:00","Duration":"PT200H0M0S","PercentComplete":"0"}</a:t>
            </a:r>
          </a:p>
          <a:p xmlns:a="http://schemas.openxmlformats.org/drawingml/2006/main">
            <a:r>
              <a:t>{"UID":"15","ID":"15","Name":"Módulo de Gestión Integral de Inventarios","OutlineLevel":"1","Start":"2026-05-25T08:00:00","Finish":"2026-07-03T17:00:00","Duration":"PT240H0M0S","PercentComplete":"0"}</a:t>
            </a:r>
          </a:p>
          <a:p xmlns:a="http://schemas.openxmlformats.org/drawingml/2006/main">
            <a:r>
              <a:t>{"UID":"23","ID":"23","Name":"Módulo de Control de Pagos","OutlineLevel":"1","Start":"2026-07-06T08:00:00","Finish":"2026-07-31T17:00:00","Duration":"PT160H0M0S","PercentComplete":"0"}</a:t>
            </a:r>
          </a:p>
          <a:p xmlns:a="http://schemas.openxmlformats.org/drawingml/2006/main">
            <a:r>
              <a:t>{"UID":"30","ID":"30","Name":"Módulo de Registro de Asistencia del Personal","OutlineLevel":"1","Start":"2026-08-03T08:00:00","Finish":"2026-08-28T17:00:00","Duration":"PT160H0M0S","PercentComplete":"0"}</a:t>
            </a:r>
          </a:p>
          <a:p xmlns:a="http://schemas.openxmlformats.org/drawingml/2006/main">
            <a:r>
              <a:t>{"UID":"38","ID":"38","Name":"Módulo de Reportes y Dashboard","OutlineLevel":"1","Start":"2026-08-31T08:00:00","Finish":"2026-09-25T17:00:00","Duration":"PT160H0M0S","PercentComplete":"0"}</a:t>
            </a:r>
          </a:p>
          <a:p xmlns:a="http://schemas.openxmlformats.org/drawingml/2006/main">
            <a:r>
              <a:t>{"UID":"45","ID":"45","Name":"Integración, Implementación y Entrega Final","OutlineLevel":"1","Start":"2026-09-28T08:00:00","Finish":"2026-10-09T17:00:00","Duration":"PT80H0M0S","PercentComplete":"0"}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Cronograma proyecto de graduacion excel .xml aportado por el usuario. Se conservan ID, nombres completos, fechas y duración de cada tarea. Duración en días = horas XML / 8, según MinutesPerDay=480. Inicio de las tareas a las 08:00 y fin a las 17:00 según XML. El eje del Gantt representa días calendario con fin inclusivo. El XML conserva 0 % de avance.</a:t>
            </a:r>
          </a:p>
          <a:p xmlns:a="http://schemas.openxmlformats.org/drawingml/2006/main">
            <a:r>
              <a:t>{"UID":"2","ID":"2","Name":"Análisis de requerimientos del módulo de usuarios, roles y permisos","OutlineLevel":"2","Start":"2026-03-16T08:00:00","Finish":"2026-03-20T17:00:00","Duration":"PT40H0M0S","PercentComplete":"0"}</a:t>
            </a:r>
          </a:p>
          <a:p xmlns:a="http://schemas.openxmlformats.org/drawingml/2006/main">
            <a:r>
              <a:t>{"UID":"3","ID":"3","Name":"Diseño de tablas relacionadas con usuarios, roles, permisos y bitácora","OutlineLevel":"2","Start":"2026-03-23T08:00:00","Finish":"2026-03-27T17:00:00","Duration":"PT40H0M0S","PercentComplete":"0"}</a:t>
            </a:r>
          </a:p>
          <a:p xmlns:a="http://schemas.openxmlformats.org/drawingml/2006/main">
            <a:r>
              <a:t>{"UID":"4","ID":"4","Name":"Desarrollo de autenticación e inicio de sesión","OutlineLevel":"2","Start":"2026-03-30T08:00:00","Finish":"2026-04-03T17:00:00","Duration":"PT40H0M0S","PercentComplete":"0"}</a:t>
            </a:r>
          </a:p>
          <a:p xmlns:a="http://schemas.openxmlformats.org/drawingml/2006/main">
            <a:r>
              <a:t>{"UID":"5","ID":"5","Name":"Desarrollo de gestión de usuarios, roles y permisos","OutlineLevel":"2","Start":"2026-04-06T08:00:00","Finish":"2026-04-10T17:00:00","Duration":"PT40H0M0S","PercentComplete":"0"}</a:t>
            </a:r>
          </a:p>
          <a:p xmlns:a="http://schemas.openxmlformats.org/drawingml/2006/main">
            <a:r>
              <a:t>{"UID":"6","ID":"6","Name":"Implementación de bitácora básica de acciones","OutlineLevel":"2","Start":"2026-04-13T08:00:00","Finish":"2026-04-15T17:00:00","Duration":"PT24H0M0S","PercentComplete":"0"}</a:t>
            </a:r>
          </a:p>
          <a:p xmlns:a="http://schemas.openxmlformats.org/drawingml/2006/main">
            <a:r>
              <a:t>{"UID":"7","ID":"7","Name":"Pruebas y correcciones del módulo","OutlineLevel":"2","Start":"2026-04-16T08:00:00","Finish":"2026-04-17T17:00:00","Duration":"PT16H0M0S","PercentComplete":"0"}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Cronograma proyecto de graduacion excel .xml aportado por el usuario. Se conservan ID, nombres completos, fechas y duración de cada tarea. Duración en días = horas XML / 8, según MinutesPerDay=480. Inicio de las tareas a las 08:00 y fin a las 17:00 según XML. El eje del Gantt representa días calendario con fin inclusivo. El XML conserva 0 % de avance.</a:t>
            </a:r>
          </a:p>
          <a:p xmlns:a="http://schemas.openxmlformats.org/drawingml/2006/main">
            <a:r>
              <a:t>{"UID":"9","ID":"9","Name":"Análisis de requerimientos del proceso de pedidos","OutlineLevel":"2","Start":"2026-04-20T08:00:00","Finish":"2026-04-24T17:00:00","Duration":"PT40H0M0S","PercentComplete":"0"}</a:t>
            </a:r>
          </a:p>
          <a:p xmlns:a="http://schemas.openxmlformats.org/drawingml/2006/main">
            <a:r>
              <a:t>{"UID":"10","ID":"10","Name":"Diseño de tablas y relaciones para pedidos y detalle de pedidos","OutlineLevel":"2","Start":"2026-04-27T08:00:00","Finish":"2026-04-30T17:00:00","Duration":"PT32H0M0S","PercentComplete":"0"}</a:t>
            </a:r>
          </a:p>
          <a:p xmlns:a="http://schemas.openxmlformats.org/drawingml/2006/main">
            <a:r>
              <a:t>{"UID":"11","ID":"11","Name":"Desarrollo del registro de pedidos","OutlineLevel":"2","Start":"2026-05-01T08:00:00","Finish":"2026-05-08T17:00:00","Duration":"PT48H0M0S","PercentComplete":"0"}</a:t>
            </a:r>
          </a:p>
          <a:p xmlns:a="http://schemas.openxmlformats.org/drawingml/2006/main">
            <a:r>
              <a:t>{"UID":"12","ID":"12","Name":"Desarrollo del flujo de estados del pedido","OutlineLevel":"2","Start":"2026-05-11T08:00:00","Finish":"2026-05-14T17:00:00","Duration":"PT32H0M0S","PercentComplete":"0"}</a:t>
            </a:r>
          </a:p>
          <a:p xmlns:a="http://schemas.openxmlformats.org/drawingml/2006/main">
            <a:r>
              <a:t>{"UID":"13","ID":"13","Name":"Desarrollo de asignación de responsable, historial y observaciones","OutlineLevel":"2","Start":"2026-05-15T08:00:00","Finish":"2026-05-19T17:00:00","Duration":"PT24H0M0S","PercentComplete":"0"}</a:t>
            </a:r>
          </a:p>
          <a:p xmlns:a="http://schemas.openxmlformats.org/drawingml/2006/main">
            <a:r>
              <a:t>{"UID":"14","ID":"14","Name":"Pruebas y correcciones del módulo","OutlineLevel":"2","Start":"2026-05-20T08:00:00","Finish":"2026-05-22T17:00:00","Duration":"PT24H0M0S","PercentComplete":"0"}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Cronograma proyecto de graduacion excel .xml aportado por el usuario. Se conservan ID, nombres completos, fechas y duración de cada tarea. Duración en días = horas XML / 8, según MinutesPerDay=480. Inicio de las tareas a las 08:00 y fin a las 17:00 según XML. El eje del Gantt representa días calendario con fin inclusivo. El XML conserva 0 % de avance.</a:t>
            </a:r>
          </a:p>
          <a:p xmlns:a="http://schemas.openxmlformats.org/drawingml/2006/main">
            <a:r>
              <a:t>{"UID":"16","ID":"16","Name":"Análisis de requerimientos de inventario de producto terminado y materia prima","OutlineLevel":"2","Start":"2026-05-25T08:00:00","Finish":"2026-05-29T17:00:00","Duration":"PT40H0M0S","PercentComplete":"0"}</a:t>
            </a:r>
          </a:p>
          <a:p xmlns:a="http://schemas.openxmlformats.org/drawingml/2006/main">
            <a:r>
              <a:t>{"UID":"17","ID":"17","Name":"Diseño de tablas para productos terminados, insumos y movimientos","OutlineLevel":"2","Start":"2026-06-01T08:00:00","Finish":"2026-06-05T17:00:00","Duration":"PT40H0M0S","PercentComplete":"0"}</a:t>
            </a:r>
          </a:p>
          <a:p xmlns:a="http://schemas.openxmlformats.org/drawingml/2006/main">
            <a:r>
              <a:t>{"UID":"18","ID":"18","Name":"Desarrollo de registro de productos terminados","OutlineLevel":"2","Start":"2026-06-08T08:00:00","Finish":"2026-06-12T17:00:00","Duration":"PT40H0M0S","PercentComplete":"0"}</a:t>
            </a:r>
          </a:p>
          <a:p xmlns:a="http://schemas.openxmlformats.org/drawingml/2006/main">
            <a:r>
              <a:t>{"UID":"19","ID":"19","Name":"Desarrollo de registro de insumos y materia prima","OutlineLevel":"2","Start":"2026-06-15T08:00:00","Finish":"2026-06-19T17:00:00","Duration":"PT40H0M0S","PercentComplete":"0"}</a:t>
            </a:r>
          </a:p>
          <a:p xmlns:a="http://schemas.openxmlformats.org/drawingml/2006/main">
            <a:r>
              <a:t>{"UID":"20","ID":"20","Name":"Desarrollo de movimientos de inventario: entradas, salidas, ajustes y mermas","OutlineLevel":"2","Start":"2026-06-22T08:00:00","Finish":"2026-06-26T17:00:00","Duration":"PT40H0M0S","PercentComplete":"0"}</a:t>
            </a:r>
          </a:p>
          <a:p xmlns:a="http://schemas.openxmlformats.org/drawingml/2006/main">
            <a:r>
              <a:t>{"UID":"21","ID":"21","Name":"Desarrollo de stock mínimo, alertas y kardex","OutlineLevel":"2","Start":"2026-06-29T08:00:00","Finish":"2026-07-01T17:00:00","Duration":"PT24H0M0S","PercentComplete":"0"}</a:t>
            </a:r>
          </a:p>
          <a:p xmlns:a="http://schemas.openxmlformats.org/drawingml/2006/main">
            <a:r>
              <a:t>{"UID":"22","ID":"22","Name":"Pruebas y correcciones del módulo","OutlineLevel":"2","Start":"2026-07-02T08:00:00","Finish":"2026-07-03T17:00:00","Duration":"PT16H0M0S","PercentComplete":"0"}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Cronograma proyecto de graduacion excel .xml aportado por el usuario. Se conservan ID, nombres completos, fechas y duración de cada tarea. Duración en días = horas XML / 8, según MinutesPerDay=480. Inicio de las tareas a las 08:00 y fin a las 17:00 según XML. El eje del Gantt representa días calendario con fin inclusivo. El XML conserva 0 % de avance.</a:t>
            </a:r>
          </a:p>
          <a:p xmlns:a="http://schemas.openxmlformats.org/drawingml/2006/main">
            <a:r>
              <a:t>{"UID":"24","ID":"24","Name":"Análisis de requerimientos del proceso de pagos","OutlineLevel":"2","Start":"2026-07-06T08:00:00","Finish":"2026-07-09T17:00:00","Duration":"PT32H0M0S","PercentComplete":"0"}</a:t>
            </a:r>
          </a:p>
          <a:p xmlns:a="http://schemas.openxmlformats.org/drawingml/2006/main">
            <a:r>
              <a:t>{"UID":"25","ID":"25","Name":"Diseño de tablas para pagos, métodos de pago y estados financieros","OutlineLevel":"2","Start":"2026-07-10T08:00:00","Finish":"2026-07-14T17:00:00","Duration":"PT24H0M0S","PercentComplete":"0"}</a:t>
            </a:r>
          </a:p>
          <a:p xmlns:a="http://schemas.openxmlformats.org/drawingml/2006/main">
            <a:r>
              <a:t>{"UID":"26","ID":"26","Name":"Desarrollo del registro de pagos por pedido","OutlineLevel":"2","Start":"2026-07-15T08:00:00","Finish":"2026-07-21T17:00:00","Duration":"PT40H0M0S","PercentComplete":"0"}</a:t>
            </a:r>
          </a:p>
          <a:p xmlns:a="http://schemas.openxmlformats.org/drawingml/2006/main">
            <a:r>
              <a:t>{"UID":"27","ID":"27","Name":"Desarrollo de cálculo de saldo pendiente y estado financiero","OutlineLevel":"2","Start":"2026-07-22T08:00:00","Finish":"2026-07-24T17:00:00","Duration":"PT24H0M0S","PercentComplete":"0"}</a:t>
            </a:r>
          </a:p>
          <a:p xmlns:a="http://schemas.openxmlformats.org/drawingml/2006/main">
            <a:r>
              <a:t>{"UID":"28","ID":"28","Name":"Desarrollo de historial de pagos y comprobantes","OutlineLevel":"2","Start":"2026-07-27T08:00:00","Finish":"2026-07-29T17:00:00","Duration":"PT24H0M0S","PercentComplete":"0"}</a:t>
            </a:r>
          </a:p>
          <a:p xmlns:a="http://schemas.openxmlformats.org/drawingml/2006/main">
            <a:r>
              <a:t>{"UID":"29","ID":"29","Name":"Pruebas y correcciones del módulo","OutlineLevel":"2","Start":"2026-07-30T08:00:00","Finish":"2026-07-31T17:00:00","Duration":"PT16H0M0S","PercentComplete":"0"}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Cronograma proyecto de graduacion excel .xml aportado por el usuario. Se conservan ID, nombres completos, fechas y duración de cada tarea. Duración en días = horas XML / 8, según MinutesPerDay=480. Inicio de las tareas a las 08:00 y fin a las 17:00 según XML. El eje del Gantt representa días calendario con fin inclusivo. El XML conserva 0 % de avance.</a:t>
            </a:r>
          </a:p>
          <a:p xmlns:a="http://schemas.openxmlformats.org/drawingml/2006/main">
            <a:r>
              <a:t>{"UID":"31","ID":"31","Name":"Análisis de requerimientos de empleados, asistencia y permisos","OutlineLevel":"2","Start":"2026-08-03T08:00:00","Finish":"2026-08-06T17:00:00","Duration":"PT32H0M0S","PercentComplete":"0"}</a:t>
            </a:r>
          </a:p>
          <a:p xmlns:a="http://schemas.openxmlformats.org/drawingml/2006/main">
            <a:r>
              <a:t>{"UID":"32","ID":"32","Name":"Diseño de tablas para empleados, asistencias y permisos","OutlineLevel":"2","Start":"2026-08-07T08:00:00","Finish":"2026-08-11T17:00:00","Duration":"PT24H0M0S","PercentComplete":"0"}</a:t>
            </a:r>
          </a:p>
          <a:p xmlns:a="http://schemas.openxmlformats.org/drawingml/2006/main">
            <a:r>
              <a:t>{"UID":"33","ID":"33","Name":"Desarrollo del registro y consulta de empleados","OutlineLevel":"2","Start":"2026-08-12T08:00:00","Finish":"2026-08-17T17:00:00","Duration":"PT32H0M0S","PercentComplete":"0"}</a:t>
            </a:r>
          </a:p>
          <a:p xmlns:a="http://schemas.openxmlformats.org/drawingml/2006/main">
            <a:r>
              <a:t>{"UID":"34","ID":"34","Name":"Desarrollo del registro de entradas y salidas","OutlineLevel":"2","Start":"2026-08-18T08:00:00","Finish":"2026-08-20T17:00:00","Duration":"PT24H0M0S","PercentComplete":"0"}</a:t>
            </a:r>
          </a:p>
          <a:p xmlns:a="http://schemas.openxmlformats.org/drawingml/2006/main">
            <a:r>
              <a:t>{"UID":"35","ID":"35","Name":"Desarrollo de control de tardanzas, ausencias y permisos","OutlineLevel":"2","Start":"2026-08-21T08:00:00","Finish":"2026-08-25T17:00:00","Duration":"PT24H0M0S","PercentComplete":"0"}</a:t>
            </a:r>
          </a:p>
          <a:p xmlns:a="http://schemas.openxmlformats.org/drawingml/2006/main">
            <a:r>
              <a:t>{"UID":"36","ID":"36","Name":"Desarrollo de resumen mensual por empleado","OutlineLevel":"2","Start":"2026-08-26T08:00:00","Finish":"2026-08-27T17:00:00","Duration":"PT16H0M0S","PercentComplete":"0"}</a:t>
            </a:r>
          </a:p>
          <a:p xmlns:a="http://schemas.openxmlformats.org/drawingml/2006/main">
            <a:r>
              <a:t>{"UID":"37","ID":"37","Name":"Pruebas y correcciones del módulo","OutlineLevel":"2","Start":"2026-08-28T08:00:00","Finish":"2026-08-28T17:00:00","Duration":"PT8H0M0S","PercentComplete":"0"}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Cronograma proyecto de graduacion excel .xml aportado por el usuario. Se conservan ID, nombres completos, fechas y duración de cada tarea. Duración en días = horas XML / 8, según MinutesPerDay=480. Inicio de las tareas a las 08:00 y fin a las 17:00 según XML. El eje del Gantt representa días calendario con fin inclusivo. El XML conserva 0 % de avance.</a:t>
            </a:r>
          </a:p>
          <a:p xmlns:a="http://schemas.openxmlformats.org/drawingml/2006/main">
            <a:r>
              <a:t>{"UID":"39","ID":"39","Name":"Análisis de reportes requeridos por la empresa","OutlineLevel":"2","Start":"2026-08-31T08:00:00","Finish":"2026-09-03T17:00:00","Duration":"PT32H0M0S","PercentComplete":"0"}</a:t>
            </a:r>
          </a:p>
          <a:p xmlns:a="http://schemas.openxmlformats.org/drawingml/2006/main">
            <a:r>
              <a:t>{"UID":"40","ID":"40","Name":"Diseño de consultas y estructura del dashboard","OutlineLevel":"2","Start":"2026-09-04T08:00:00","Finish":"2026-09-08T17:00:00","Duration":"PT24H0M0S","PercentComplete":"0"}</a:t>
            </a:r>
          </a:p>
          <a:p xmlns:a="http://schemas.openxmlformats.org/drawingml/2006/main">
            <a:r>
              <a:t>{"UID":"41","ID":"41","Name":"Desarrollo de reportes de pedidos, inventarios, pagos y asistencia","OutlineLevel":"2","Start":"2026-09-09T08:00:00","Finish":"2026-09-15T17:00:00","Duration":"PT40H0M0S","PercentComplete":"0"}</a:t>
            </a:r>
          </a:p>
          <a:p xmlns:a="http://schemas.openxmlformats.org/drawingml/2006/main">
            <a:r>
              <a:t>{"UID":"42","ID":"42","Name":"Desarrollo de filtros por fechas, áreas, estados y clientes","OutlineLevel":"2","Start":"2026-09-16T08:00:00","Finish":"2026-09-18T17:00:00","Duration":"PT24H0M0S","PercentComplete":"0"}</a:t>
            </a:r>
          </a:p>
          <a:p xmlns:a="http://schemas.openxmlformats.org/drawingml/2006/main">
            <a:r>
              <a:t>{"UID":"43","ID":"43","Name":"Desarrollo de indicadores principales del dashboard","OutlineLevel":"2","Start":"2026-09-21T08:00:00","Finish":"2026-09-23T17:00:00","Duration":"PT24H0M0S","PercentComplete":"0"}</a:t>
            </a:r>
          </a:p>
          <a:p xmlns:a="http://schemas.openxmlformats.org/drawingml/2006/main">
            <a:r>
              <a:t>{"UID":"44","ID":"44","Name":"Pruebas y correcciones del módulo","OutlineLevel":"2","Start":"2026-09-24T08:00:00","Finish":"2026-09-25T17:00:00","Duration":"PT16H0M0S","PercentComplete":"0"}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Cronograma proyecto de graduacion excel .xml aportado por el usuario. Se conservan ID, nombres completos, fechas y duración de cada tarea. Duración en días = horas XML / 8, según MinutesPerDay=480. Inicio de las tareas a las 08:00 y fin a las 17:00 según XML. El eje del Gantt representa días calendario con fin inclusivo. El XML conserva 0 % de avance.</a:t>
            </a:r>
          </a:p>
          <a:p xmlns:a="http://schemas.openxmlformats.org/drawingml/2006/main">
            <a:r>
              <a:t>{"UID":"46","ID":"46","Name":"Integración general de módulos del sistema","OutlineLevel":"2","Start":"2026-09-28T08:00:00","Finish":"2026-09-30T17:00:00","Duration":"PT24H0M0S","PercentComplete":"0"}</a:t>
            </a:r>
          </a:p>
          <a:p xmlns:a="http://schemas.openxmlformats.org/drawingml/2006/main">
            <a:r>
              <a:t>{"UID":"47","ID":"47","Name":"Pruebas generales del sistema completo","OutlineLevel":"2","Start":"2026-10-01T08:00:00","Finish":"2026-10-02T17:00:00","Duration":"PT16H0M0S","PercentComplete":"0"}</a:t>
            </a:r>
          </a:p>
          <a:p xmlns:a="http://schemas.openxmlformats.org/drawingml/2006/main">
            <a:r>
              <a:t>{"UID":"48","ID":"48","Name":"Corrección de errores finales","OutlineLevel":"2","Start":"2026-10-05T08:00:00","Finish":"2026-10-06T17:00:00","Duration":"PT16H0M0S","PercentComplete":"0"}</a:t>
            </a:r>
          </a:p>
          <a:p xmlns:a="http://schemas.openxmlformats.org/drawingml/2006/main">
            <a:r>
              <a:t>{"UID":"49","ID":"49","Name":"Preparación del entorno de implementación","OutlineLevel":"2","Start":"2026-10-07T08:00:00","Finish":"2026-10-07T17:00:00","Duration":"PT8H0M0S","PercentComplete":"0"}</a:t>
            </a:r>
          </a:p>
          <a:p xmlns:a="http://schemas.openxmlformats.org/drawingml/2006/main">
            <a:r>
              <a:t>{"UID":"50","ID":"50","Name":"Capacitación básica al personal de la empresa","OutlineLevel":"2","Start":"2026-10-08T08:00:00","Finish":"2026-10-08T17:00:00","Duration":"PT8H0M0S","PercentComplete":"0"}</a:t>
            </a:r>
          </a:p>
          <a:p xmlns:a="http://schemas.openxmlformats.org/drawingml/2006/main">
            <a:r>
              <a:t>{"UID":"51","ID":"51","Name":"Entrega final del sistema y documentación","OutlineLevel":"2","Start":"2026-10-09T08:00:00","Finish":"2026-10-09T17:00:00","Duration":"PT8H0M0S","PercentComplete":"0"}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746201b8643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4ee672b984e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64c0f5bde4f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bc730aed345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c971f474046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66adc760147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A80286-B5DA-4642-9FB9-8C115DFC56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63CAB3-4529-4476-BD60-67878A5B05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242298-EF4B-4D7F-8A6F-B55B68D60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85E8D7-6EAC-42B4-B6A9-7E797CE0B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549BEE-CC28-4ECA-B3DF-8A8C229B70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AD0B4F-25BA-46D1-9270-6413715D8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1D2391-8FF3-4EF5-B444-ED5864C995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3F9CA6-6EFC-44C2-8C3E-4CF4E57591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95D519-2487-4FD3-BA2B-BF4695DDA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08C029-B27C-43BA-A717-1DCBC251B9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61c1c17e134b3b" /><Relationship Type="http://schemas.openxmlformats.org/officeDocument/2006/relationships/slideLayout" Target="/ppt/slideLayouts/slideLayout1.xml" Id="R30c679b9ce7741ee" /><Relationship Type="http://schemas.openxmlformats.org/officeDocument/2006/relationships/slideLayout" Target="/ppt/slideLayouts/slideLayout2.xml" Id="R812480b1af5f40c5" /><Relationship Type="http://schemas.openxmlformats.org/officeDocument/2006/relationships/slideLayout" Target="/ppt/slideLayouts/slideLayout3.xml" Id="R141e25c9407f4622" /><Relationship Type="http://schemas.openxmlformats.org/officeDocument/2006/relationships/slideLayout" Target="/ppt/slideLayouts/slideLayout4.xml" Id="Reb81aaf5efbc4dab" /><Relationship Type="http://schemas.openxmlformats.org/officeDocument/2006/relationships/slideLayout" Target="/ppt/slideLayouts/slideLayout5.xml" Id="R886568c3d6c9499b" /><Relationship Type="http://schemas.openxmlformats.org/officeDocument/2006/relationships/slideLayout" Target="/ppt/slideLayouts/slideLayout6.xml" Id="R9c7efcaf279543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c679b9ce7741ee"/>
    <p:sldLayoutId xmlns:r="http://schemas.openxmlformats.org/officeDocument/2006/relationships" id="2147483650" r:id="R812480b1af5f40c5"/>
    <p:sldLayoutId xmlns:r="http://schemas.openxmlformats.org/officeDocument/2006/relationships" id="2147483651" r:id="R141e25c9407f4622"/>
    <p:sldLayoutId xmlns:r="http://schemas.openxmlformats.org/officeDocument/2006/relationships" id="2147483652" r:id="Reb81aaf5efbc4dab"/>
    <p:sldLayoutId xmlns:r="http://schemas.openxmlformats.org/officeDocument/2006/relationships" id="2147483653" r:id="R886568c3d6c9499b"/>
    <p:sldLayoutId xmlns:r="http://schemas.openxmlformats.org/officeDocument/2006/relationships" id="2147483654" r:id="R9c7efcaf279543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816c2bb2443da" /><Relationship Type="http://schemas.openxmlformats.org/officeDocument/2006/relationships/notesSlide" Target="/ppt/notesSlides/notesSlide1.xml" Id="R81e90b331c3a4e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eab6fc34541aa" /><Relationship Type="http://schemas.openxmlformats.org/officeDocument/2006/relationships/notesSlide" Target="/ppt/notesSlides/notesSlide2.xml" Id="R50ff3e48b52a4a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b1c0c3ffbf45b8" /><Relationship Type="http://schemas.openxmlformats.org/officeDocument/2006/relationships/notesSlide" Target="/ppt/notesSlides/notesSlide3.xml" Id="Rce69e74cee2744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fe4f1128a4368" /><Relationship Type="http://schemas.openxmlformats.org/officeDocument/2006/relationships/notesSlide" Target="/ppt/notesSlides/notesSlide4.xml" Id="R49ae5019dcc44f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280d443404333" /><Relationship Type="http://schemas.openxmlformats.org/officeDocument/2006/relationships/notesSlide" Target="/ppt/notesSlides/notesSlide5.xml" Id="R1267780cffca47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e788b700e4159" /><Relationship Type="http://schemas.openxmlformats.org/officeDocument/2006/relationships/notesSlide" Target="/ppt/notesSlides/notesSlide6.xml" Id="Reb675df417a2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62477190d4115" /><Relationship Type="http://schemas.openxmlformats.org/officeDocument/2006/relationships/notesSlide" Target="/ppt/notesSlides/notesSlide7.xml" Id="R6563885c17c349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43ed15d054073" /><Relationship Type="http://schemas.openxmlformats.org/officeDocument/2006/relationships/notesSlide" Target="/ppt/notesSlides/notesSlide8.xml" Id="R2c14b132d4f44c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Cronograma de implementación 2026">
            <a:extLst xmlns:a="http://schemas.openxmlformats.org/drawingml/2006/main">
              <a:ext uri="{FF2B5EF4-FFF2-40B4-BE49-F238E27FC236}">
                <a16:creationId xmlns:a16="http://schemas.microsoft.com/office/drawing/2014/main" id="{4C5AC21B-58DA-49BD-884B-2D5F89EF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812768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pPr>
            <a:r>
              <a: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rPr>
              <a:t>Cronograma de implementación 2026</a:t>
            </a:r>
          </a:p>
        </p:txBody>
      </p:sp>
      <p:sp>
        <p:nvSpPr>
          <p:cNvPr id="2" name="16 de marzo al 9 de octubre de 2026">
            <a:extLst xmlns:a="http://schemas.openxmlformats.org/drawingml/2006/main">
              <a:ext uri="{FF2B5EF4-FFF2-40B4-BE49-F238E27FC236}">
                <a16:creationId xmlns:a16="http://schemas.microsoft.com/office/drawing/2014/main" id="{05053CCE-305D-43B7-AD0F-E204FC69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382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16 de marzo al 9 de octubre de 2026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FF25C-F1D0-48C6-BB41-29FB9AD8D6CD}"/>
              </a:ext>
            </a:extLst>
          </p:cNvPr>
          <p:cNvGraphicFramePr/>
          <p:nvPr/>
        </p:nvGraphicFramePr>
        <p:xfrm>
          <a:off xmlns:a="http://schemas.openxmlformats.org/drawingml/2006/main" x="809625" y="1781175"/>
          <a:ext xmlns:a="http://schemas.openxmlformats.org/drawingml/2006/main" cx="7105650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4076700"/>
                <a:gridCol w="590550"/>
                <a:gridCol w="981075"/>
                <a:gridCol w="981075"/>
              </a:tblGrid>
              <a:tr h="400050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 de tarea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Dur.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Inicio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Módulo de Usuarios y Roles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16/03/26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17/04/26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Módulo de Gestión y Control de Pedidos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20/04/26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22/05/26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Módulo de Gestión Integral de Inventarios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30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25/05/26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03/07/26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Módulo de Control de Pagos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20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06/07/26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31/07/26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Módulo de Registro de Asistencia del Personal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20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03/08/26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28/08/26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Módulo de Reportes y Dashboard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20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31/08/26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25/09/26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Integración, Implementación y Entrega Final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10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28/09/26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09/10/26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A80E5-D056-477B-A468-60468E7E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8117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" name="mar">
            <a:extLst xmlns:a="http://schemas.openxmlformats.org/drawingml/2006/main">
              <a:ext uri="{FF2B5EF4-FFF2-40B4-BE49-F238E27FC236}">
                <a16:creationId xmlns:a16="http://schemas.microsoft.com/office/drawing/2014/main" id="{095B8941-9A98-4A0A-947B-0C3CCECA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mar</a:t>
            </a:r>
          </a:p>
        </p:txBody>
      </p:sp>
      <p:sp>
        <p:nvSpPr>
          <p:cNvPr id="6" name="abr">
            <a:extLst xmlns:a="http://schemas.openxmlformats.org/drawingml/2006/main">
              <a:ext uri="{FF2B5EF4-FFF2-40B4-BE49-F238E27FC236}">
                <a16:creationId xmlns:a16="http://schemas.microsoft.com/office/drawing/2014/main" id="{0A70F1E0-0702-4DB9-8459-BD68AAD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952" y="1876425"/>
            <a:ext cx="44117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abr</a:t>
            </a:r>
          </a:p>
        </p:txBody>
      </p:sp>
      <p:sp>
        <p:nvSpPr>
          <p:cNvPr id="7" name="may">
            <a:extLst xmlns:a="http://schemas.openxmlformats.org/drawingml/2006/main">
              <a:ext uri="{FF2B5EF4-FFF2-40B4-BE49-F238E27FC236}">
                <a16:creationId xmlns:a16="http://schemas.microsoft.com/office/drawing/2014/main" id="{49B838E7-2E49-4440-A771-18C2C38D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74" y="1876425"/>
            <a:ext cx="45651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may</a:t>
            </a:r>
          </a:p>
        </p:txBody>
      </p:sp>
      <p:sp>
        <p:nvSpPr>
          <p:cNvPr id="8" name="jun">
            <a:extLst xmlns:a="http://schemas.openxmlformats.org/drawingml/2006/main">
              <a:ext uri="{FF2B5EF4-FFF2-40B4-BE49-F238E27FC236}">
                <a16:creationId xmlns:a16="http://schemas.microsoft.com/office/drawing/2014/main" id="{C0976EA6-0955-4B40-8952-8E5E9BC8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737" y="1876425"/>
            <a:ext cx="44117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jun</a:t>
            </a:r>
          </a:p>
        </p:txBody>
      </p:sp>
      <p:sp>
        <p:nvSpPr>
          <p:cNvPr id="9" name="jul">
            <a:extLst xmlns:a="http://schemas.openxmlformats.org/drawingml/2006/main">
              <a:ext uri="{FF2B5EF4-FFF2-40B4-BE49-F238E27FC236}">
                <a16:creationId xmlns:a16="http://schemas.microsoft.com/office/drawing/2014/main" id="{98324BA8-4B62-48A4-8130-312ACF28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960" y="1876425"/>
            <a:ext cx="45651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jul</a:t>
            </a:r>
          </a:p>
        </p:txBody>
      </p:sp>
      <p:sp>
        <p:nvSpPr>
          <p:cNvPr id="10" name="ago">
            <a:extLst xmlns:a="http://schemas.openxmlformats.org/drawingml/2006/main">
              <a:ext uri="{FF2B5EF4-FFF2-40B4-BE49-F238E27FC236}">
                <a16:creationId xmlns:a16="http://schemas.microsoft.com/office/drawing/2014/main" id="{2BEFC409-3DB8-4F94-BA50-3A32C47E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523" y="1876425"/>
            <a:ext cx="45651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ago</a:t>
            </a:r>
          </a:p>
        </p:txBody>
      </p:sp>
      <p:sp>
        <p:nvSpPr>
          <p:cNvPr id="11" name="sep">
            <a:extLst xmlns:a="http://schemas.openxmlformats.org/drawingml/2006/main">
              <a:ext uri="{FF2B5EF4-FFF2-40B4-BE49-F238E27FC236}">
                <a16:creationId xmlns:a16="http://schemas.microsoft.com/office/drawing/2014/main" id="{D9958EE3-EDAC-4813-884B-E46744E4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086" y="1876425"/>
            <a:ext cx="44117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sep</a:t>
            </a:r>
          </a:p>
        </p:txBody>
      </p:sp>
      <p:sp>
        <p:nvSpPr>
          <p:cNvPr id="12" name="oct">
            <a:extLst xmlns:a="http://schemas.openxmlformats.org/drawingml/2006/main">
              <a:ext uri="{FF2B5EF4-FFF2-40B4-BE49-F238E27FC236}">
                <a16:creationId xmlns:a16="http://schemas.microsoft.com/office/drawing/2014/main" id="{11B6E739-1CFA-4323-A92F-A7742075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308" y="1876425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oct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5BE96-7778-491F-B610-DAD43C71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01AFF-33F5-43E1-A1A7-33B8D3C5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CA387-C85C-4928-ADAC-6A78DD98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427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C9F24-829A-4619-8845-5AD8312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649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AA83F-73DB-49AD-B3CB-C4E973A1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212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F8E4B-3905-423F-A37F-BC1730AA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35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10E1F-350D-4019-9D5E-DED8F96F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998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5E4AA-E426-46C0-9B67-48B8F67F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EFD8D-3DB8-4228-8095-1AE2ADAC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83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17656-6A36-4356-9372-4268588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52675"/>
            <a:ext cx="50624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29669-1CBB-4FE0-BA8A-CE44B7B5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146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32D74-C923-4106-80F4-B3F4C0AC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BEB72-45F3-402B-BBFF-4A4F4BB3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37F27F-CB6B-46A4-A629-FE51D1DB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427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B1AD99-448C-41E7-8B19-D215595A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649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28FF37-3335-427C-AF9C-31D4184F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212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FCEE82-EF58-4C18-87C5-7F88D269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35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FD3133-627B-496E-AB7E-C744AE1D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998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27DAC8-4647-448C-B2CC-1D4405D0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EF5CBC-ED6B-4C56-8FD9-F6492107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83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6633AC-64E2-46F2-8AC1-54F5AB49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901" y="2895600"/>
            <a:ext cx="50624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9340B8-03F5-4EC0-AC87-81B9EC2E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575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BE958E-172C-4473-820E-4BBFA596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CA1AAB-8E5D-42FA-8731-A2A9F36D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11F646-8B83-42F7-95F7-128FD63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427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1648B7-7B9C-4812-A4AF-30FBCAD2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649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BC1945-1A75-4885-A3A2-A3436C4D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212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3BB690-62E6-49F0-93CD-A558B258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35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D90FEC-B3C0-4917-AE40-89103AEE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998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1C81B3-DAF5-4A42-8CE4-7029AF24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BF7574-C888-4798-BE84-F43916D9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83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7B4555-41DC-4497-A0DD-768BA6AE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5827" y="3438525"/>
            <a:ext cx="61363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E0C64E-161F-4BA8-AD87-5CDFF41E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004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ADB2DE-EB2D-4F13-B8FE-E1A4946B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BAD6F9-C238-4D2B-AEB8-89171E94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8F8E24-0C4D-4247-AD80-051B3BE6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427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65A1BB-C4EF-47D0-9D37-0FF2C3DE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649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516BB8-D487-44A8-9477-AB9887BE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212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57BC5A-F067-41A7-9D7E-84D01F7B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35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1A290D-D55F-4346-9B39-0174E12F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998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7FDC89-DADB-4059-854C-F32D728C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BB462A-D096-4300-AF4C-AC249811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83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13E23A-0E0C-4320-B081-AE6DA57F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3981450"/>
            <a:ext cx="398859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83F4AE-1DBF-4B13-B98C-E667D8F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434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19B496-AFC7-4F98-89CE-A7F02BE7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E5BD83-957F-4F9E-9C62-67659327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B693D8-F69A-422B-ADD8-87BF0E69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427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4F10BD-1D01-4B2D-8FE0-22F99A31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649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22850E-CEE4-4FC0-8AE7-60626583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212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60D72E-A08D-4C71-99A7-F33E1FC9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35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240FBB-CFE6-4680-B979-4263EAB0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998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4F83A8-758A-4A24-AB4B-54E37C4D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4BBE9F1-8EE8-4607-BF09-39EBEAC1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83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D5AD7E-172E-4D93-AEE8-2C8AEE09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679" y="4524375"/>
            <a:ext cx="398859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58E7E3-227B-4D34-827C-7DFAF0D1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863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A8000D-909A-48AD-8964-E46FFB30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E5EAC2E-4B8F-4FA5-B240-7147F545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FE334B-54F7-4928-B3D0-8408BB78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427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B80CA2-1F17-4824-B06A-7D0F52FB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649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F9FB455-271C-440F-8824-23281DFB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212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E5D0529-B5C5-4BE4-9E70-F7DA1854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35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0CB783-073A-4C4E-8EB8-34EB5BD0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998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31B03F-7483-4E08-A754-0D833F7A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D85EA0-4BAF-4009-8090-7838643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83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67A79D-84D2-42F3-8BD6-9A424E87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5067300"/>
            <a:ext cx="398859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34C4049-EC8F-4C4A-BE01-DC919E93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292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75056C-3599-4017-9F92-5C2E070E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387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92E686-E2FB-4DD0-8681-3AAB6AC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C26252-C511-401E-AC67-122BA566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427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BB3ADE-4068-4A44-B341-E3A7F24D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649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76D5338-134E-4C96-BCDB-D3CC2CFC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212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637428-2E27-483B-ADD9-3C5E9C80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35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2D4F33-D4B2-46EB-AABA-F340AE3D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998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D3F2422-9CEB-452F-A9F5-D6914D53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E36A39C-470B-40A5-A314-B5192858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83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E25F049-6343-47A0-91C7-435E60E9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761" y="5610225"/>
            <a:ext cx="184089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013BD28-04FB-4FCA-BE05-9E69209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9721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0" name="Duraciones según el XML: jornada de 8 h. Barr">
            <a:extLst xmlns:a="http://schemas.openxmlformats.org/drawingml/2006/main">
              <a:ext uri="{FF2B5EF4-FFF2-40B4-BE49-F238E27FC236}">
                <a16:creationId xmlns:a16="http://schemas.microsoft.com/office/drawing/2014/main" id="{FDC6F964-5751-426C-93FF-4197D1A1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Duraciones según el XML: jornada de 8 h. Barras = período programado, no porcentaje de avance.</a:t>
            </a:r>
          </a:p>
        </p:txBody>
      </p:sp>
      <p:sp>
        <p:nvSpPr>
          <p:cNvPr id="91" name="Cronograma XML 2026">
            <a:extLst xmlns:a="http://schemas.openxmlformats.org/drawingml/2006/main">
              <a:ext uri="{FF2B5EF4-FFF2-40B4-BE49-F238E27FC236}">
                <a16:creationId xmlns:a16="http://schemas.microsoft.com/office/drawing/2014/main" id="{F73537B4-18D9-477F-8FD3-B439DD7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Cronograma XML 2026</a:t>
            </a:r>
          </a:p>
        </p:txBody>
      </p:sp>
      <p:sp>
        <p:nvSpPr>
          <p:cNvPr id="92" name="13 / 20">
            <a:extLst xmlns:a="http://schemas.openxmlformats.org/drawingml/2006/main">
              <a:ext uri="{FF2B5EF4-FFF2-40B4-BE49-F238E27FC236}">
                <a16:creationId xmlns:a16="http://schemas.microsoft.com/office/drawing/2014/main" id="{3C39B40C-69FD-4927-9CBB-3DBF0A6B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951445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1. Usuarios y roles">
            <a:extLst xmlns:a="http://schemas.openxmlformats.org/drawingml/2006/main">
              <a:ext uri="{FF2B5EF4-FFF2-40B4-BE49-F238E27FC236}">
                <a16:creationId xmlns:a16="http://schemas.microsoft.com/office/drawing/2014/main" id="{8D03BDDC-F2DE-40A5-80DA-5BF79B1A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812768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pPr>
            <a:r>
              <a: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rPr>
              <a:t>1. Usuarios y roles</a:t>
            </a:r>
          </a:p>
        </p:txBody>
      </p:sp>
      <p:sp>
        <p:nvSpPr>
          <p:cNvPr id="2" name="16/03 al 17/04 de 2026  ·  25 días laborables">
            <a:extLst xmlns:a="http://schemas.openxmlformats.org/drawingml/2006/main">
              <a:ext uri="{FF2B5EF4-FFF2-40B4-BE49-F238E27FC236}">
                <a16:creationId xmlns:a16="http://schemas.microsoft.com/office/drawing/2014/main" id="{E645491E-E92C-4A29-836D-AA72293C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382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16/03 al 17/04 de 2026  ·  25 días laborables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9BD62-824F-40B5-9BDC-9DC4F5377199}"/>
              </a:ext>
            </a:extLst>
          </p:cNvPr>
          <p:cNvGraphicFramePr/>
          <p:nvPr/>
        </p:nvGraphicFramePr>
        <p:xfrm>
          <a:off xmlns:a="http://schemas.openxmlformats.org/drawingml/2006/main" x="809625" y="1781175"/>
          <a:ext xmlns:a="http://schemas.openxmlformats.org/drawingml/2006/main" cx="710565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4076700"/>
                <a:gridCol w="590550"/>
                <a:gridCol w="981075"/>
                <a:gridCol w="981075"/>
              </a:tblGrid>
              <a:tr h="400050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 de tarea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Dur.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Inicio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Análisis de requerimientos del módulo de usuarios, roles y permisos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16/03/26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20/03/26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Diseño de tablas relacionadas con usuarios, roles, permisos y bitácora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23/03/26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27/03/26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autenticación e inicio de sesión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30/03/26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03/04/26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gestión de usuarios, roles y permisos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06/04/26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10/04/26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Implementación de bitácora básica de acciones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13/04/26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15/04/26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Pruebas y correcciones del módulo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16/04/26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17/04/26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4CCEA-CE14-4EB1-B5CE-7A612E17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8117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" name="16/03">
            <a:extLst xmlns:a="http://schemas.openxmlformats.org/drawingml/2006/main">
              <a:ext uri="{FF2B5EF4-FFF2-40B4-BE49-F238E27FC236}">
                <a16:creationId xmlns:a16="http://schemas.microsoft.com/office/drawing/2014/main" id="{7F77D886-69A3-48B4-A76E-7F63CB59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65780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16/03</a:t>
            </a:r>
          </a:p>
        </p:txBody>
      </p:sp>
      <p:sp>
        <p:nvSpPr>
          <p:cNvPr id="6" name="23/03">
            <a:extLst xmlns:a="http://schemas.openxmlformats.org/drawingml/2006/main">
              <a:ext uri="{FF2B5EF4-FFF2-40B4-BE49-F238E27FC236}">
                <a16:creationId xmlns:a16="http://schemas.microsoft.com/office/drawing/2014/main" id="{C6E8E06D-7F5E-4162-BC03-C5382DAE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8352" y="1876425"/>
            <a:ext cx="65780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23/03</a:t>
            </a:r>
          </a:p>
        </p:txBody>
      </p:sp>
      <p:sp>
        <p:nvSpPr>
          <p:cNvPr id="7" name="30/03">
            <a:extLst xmlns:a="http://schemas.openxmlformats.org/drawingml/2006/main">
              <a:ext uri="{FF2B5EF4-FFF2-40B4-BE49-F238E27FC236}">
                <a16:creationId xmlns:a16="http://schemas.microsoft.com/office/drawing/2014/main" id="{B3F918F3-D4D5-469B-8485-B8474655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205" y="1876425"/>
            <a:ext cx="65780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30/03</a:t>
            </a:r>
          </a:p>
        </p:txBody>
      </p:sp>
      <p:sp>
        <p:nvSpPr>
          <p:cNvPr id="8" name="06/04">
            <a:extLst xmlns:a="http://schemas.openxmlformats.org/drawingml/2006/main">
              <a:ext uri="{FF2B5EF4-FFF2-40B4-BE49-F238E27FC236}">
                <a16:creationId xmlns:a16="http://schemas.microsoft.com/office/drawing/2014/main" id="{6C977819-6EDD-41F4-A403-3337AC9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057" y="1876425"/>
            <a:ext cx="65780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06/04</a:t>
            </a:r>
          </a:p>
        </p:txBody>
      </p:sp>
      <p:sp>
        <p:nvSpPr>
          <p:cNvPr id="9" name="13/04">
            <a:extLst xmlns:a="http://schemas.openxmlformats.org/drawingml/2006/main">
              <a:ext uri="{FF2B5EF4-FFF2-40B4-BE49-F238E27FC236}">
                <a16:creationId xmlns:a16="http://schemas.microsoft.com/office/drawing/2014/main" id="{AE9F0BE2-9A4E-477A-A098-C5CECEA0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909" y="1876425"/>
            <a:ext cx="46441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13/04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E6430-4759-4091-9CA9-B7AA99E1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83F49-732C-4281-9BD0-EF5871E9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571F2-44F1-4D2A-9396-AB36B62B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BB5BD-0555-400D-A9BF-7675EC9E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7F185-A04D-4004-9857-E24ECA05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8911C-BE9B-4EB9-8729-61EE075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2673D-656E-4C4B-8B7D-F002CCB8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AB3C9-9372-4646-B9CA-4F5F1F76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88090-0402-40A0-8CBA-1529E113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FE3F5-CE45-4DBA-9FC5-2BC8F82A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9A407-3240-4723-9832-2E9CB981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CBD09-2470-4B9A-9EBD-94D80953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30AD5-5B75-43C4-B9D6-B8A49A6C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51C88-8C1F-4194-8BFC-0039B44B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6D670-2D83-46F2-A49E-E1221E5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52675"/>
            <a:ext cx="48346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8B8100-7F88-488B-9683-8D914B14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146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EAD09-164B-4A31-A1C1-28AAD4D3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BF6770-5DBB-49C0-8808-6B6A06BF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3DE1E-4480-41B3-BDC0-87D298F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D77E47-8A33-40A8-87D5-E36BB417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5EDD4A-9893-4008-9BC7-BA37ECC4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F2995E-4C1B-48BA-8FD4-C7FC27D6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EC508A-CE8C-40C0-BFB3-A6515F38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BC5C76-340D-4718-944A-158620B8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D9DB6D-042C-4CC0-B36B-85E1D81E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5696D5-B73B-40A9-870F-05379B2F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20C623-7515-4BF5-90ED-5E52FD57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27830F-C2AA-4A48-A256-74AC8B55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9AE77B-6293-46B4-AA23-EC51F7D5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E40279-EFD6-4EDC-9DE4-35AE5688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95F109-FDDD-4778-8B04-E5C2C14B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2895600"/>
            <a:ext cx="48346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01B620-A209-436A-B4C7-793D1070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575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04BABC-33BA-4CC4-813A-8A7BAD4F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AA2EC4-C16A-4C6A-8832-D412CF49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05E17B-9B3A-4A96-B93A-FAAF894F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BF3EB1-E6B6-4945-AEB0-AD087DC6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9C1897-8DEF-4F5B-AD53-8DF5BF59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8021C2-5F97-4F4D-B9F2-3F917934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C8862D-6AC1-4DAB-966B-D2B66899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25482E-B208-49BE-9DB7-BE1C5F12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5E50CC-9230-494F-84C8-CCB7BBC2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5A462F-7246-4059-96AE-43C5B2BF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D8EB87-D99E-466D-A81E-9F058A2C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15CA21-3262-4683-B681-DE5D053E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D7BA19-62C8-4B67-9602-50F67660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59647E-C64B-4FFF-924D-553B773F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F70B86-F20A-4B22-AC45-6EC02187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3438525"/>
            <a:ext cx="48346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2DD42C-8D93-402C-9009-B86427E6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004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A17862-AB87-41E8-969E-E6C6530E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A14C22-4E9D-4325-97FE-D425739F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518E8E-ECB1-4169-B1EF-55435332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C86E63-27A3-4E37-9A20-FDE5DB8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D53D66-60BD-4009-9DE5-088E5631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D0952D-D404-4307-A39B-2420B521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FEB130-7E93-469A-A060-4FA17B00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76B5B1-2FCF-4698-9128-1B6D7E62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5F7A5C-A092-4F35-B546-48E620A3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84B476-1E0E-4385-A14E-72864033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E46D90-E6E1-4D36-9C84-B8E45066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6AEA08-F43A-4923-AEC9-A28ECDFD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5DAB6A2-7C1B-4C41-93F2-9F575B6E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0FCA86-C294-44CF-88D8-A665C798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ECAD09-07BC-4A0C-BBC8-266B0B6B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3981450"/>
            <a:ext cx="48346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3B9C08-D1A0-439B-B30D-457F0D58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434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A2C5829-B8FC-41C2-8D7D-A7E62C53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481866-5863-45F0-AE38-B8D369CE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CD5B9A-5368-45EE-8F3B-95A140E1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5C3877A-4742-43F3-BB9D-F076BB59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8A67E5A-6FA5-4834-A092-B9A0EBF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531D18D-FAC0-4EB4-B620-638ACC39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EB84F0-5D73-4206-861B-B7AA63FB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DB2A328-521D-4CDC-9BDE-56E3156B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1A1DBA-6F1F-43C9-8AC6-40BB5C19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48DBCA8-E9B2-44D7-B4A7-FD44BB86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880A253-88F6-41E7-9136-25BB6FF6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325997-CDD6-4363-AB24-C7C306C7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4A2653B-FD5C-4DF4-870B-F0801AFE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E023138-CC66-4F1D-BD78-F727C39B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77D266E-52E9-4B42-A88D-9FBB79F9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4524375"/>
            <a:ext cx="29008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EB81326-6025-4CEF-995E-4ACCAE22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863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E5A248B-B76B-41AE-B83E-62928CD3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01F9245-313E-40EC-8DAA-202B269B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0B2BDEA-1A33-492C-B3C4-76B0ECFC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76C88CA-548F-49AC-829E-7E71B2AE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3B99A53-2CCA-4314-8A2A-740C4967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04FF413-B5B5-41AE-B10D-3C039A2B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E2ABA8D-65D5-4676-8F93-A3634BDA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1EC7735-30FB-489D-98A5-EF33351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BF0462-7C03-4075-A031-2FC5E958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575A0F4-FC4F-4267-BD65-5CA793BE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0CE5F62-B3B2-4BF8-9777-2C8ECEC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ACC4436-0E66-4A10-B8D5-309B7D76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F4ADD78-93DE-4881-A0A8-CDA932EE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84A9AC2-46E7-47CB-9B59-5358F167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93D609F-ABDE-4B19-9387-D154C988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464" y="5067300"/>
            <a:ext cx="19338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4E7D7C-79EB-441B-B6A3-222F527F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292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6" name="Duraciones según el XML: jornada de 8 h. Barr">
            <a:extLst xmlns:a="http://schemas.openxmlformats.org/drawingml/2006/main">
              <a:ext uri="{FF2B5EF4-FFF2-40B4-BE49-F238E27FC236}">
                <a16:creationId xmlns:a16="http://schemas.microsoft.com/office/drawing/2014/main" id="{8420FEE4-006F-4DFE-8590-1ACF0988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Duraciones según el XML: jornada de 8 h. Barras = período programado, no porcentaje de avance.</a:t>
            </a:r>
          </a:p>
        </p:txBody>
      </p:sp>
      <p:sp>
        <p:nvSpPr>
          <p:cNvPr id="107" name="Cronograma XML 2026">
            <a:extLst xmlns:a="http://schemas.openxmlformats.org/drawingml/2006/main">
              <a:ext uri="{FF2B5EF4-FFF2-40B4-BE49-F238E27FC236}">
                <a16:creationId xmlns:a16="http://schemas.microsoft.com/office/drawing/2014/main" id="{93BF3685-7C96-48B2-8420-F9D2CE45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Cronograma XML 2026</a:t>
            </a:r>
          </a:p>
        </p:txBody>
      </p:sp>
      <p:sp>
        <p:nvSpPr>
          <p:cNvPr id="108" name="14 / 20">
            <a:extLst xmlns:a="http://schemas.openxmlformats.org/drawingml/2006/main">
              <a:ext uri="{FF2B5EF4-FFF2-40B4-BE49-F238E27FC236}">
                <a16:creationId xmlns:a16="http://schemas.microsoft.com/office/drawing/2014/main" id="{D5C090EF-9194-4661-A1DE-B698E69D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032312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2. Gestión y control de pedidos">
            <a:extLst xmlns:a="http://schemas.openxmlformats.org/drawingml/2006/main">
              <a:ext uri="{FF2B5EF4-FFF2-40B4-BE49-F238E27FC236}">
                <a16:creationId xmlns:a16="http://schemas.microsoft.com/office/drawing/2014/main" id="{153EAF6C-14C1-45EB-BEE4-9E7DE2D9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812768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pPr>
            <a:r>
              <a: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rPr>
              <a:t>2. Gestión y control de pedidos</a:t>
            </a:r>
          </a:p>
        </p:txBody>
      </p:sp>
      <p:sp>
        <p:nvSpPr>
          <p:cNvPr id="2" name="20/04 al 22/05 de 2026  ·  25 días laborables">
            <a:extLst xmlns:a="http://schemas.openxmlformats.org/drawingml/2006/main">
              <a:ext uri="{FF2B5EF4-FFF2-40B4-BE49-F238E27FC236}">
                <a16:creationId xmlns:a16="http://schemas.microsoft.com/office/drawing/2014/main" id="{F26E674D-6836-4573-89EF-A0A2BA8A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382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20/04 al 22/05 de 2026  ·  25 días laborables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21F0D-A7F3-444A-B050-09C180705277}"/>
              </a:ext>
            </a:extLst>
          </p:cNvPr>
          <p:cNvGraphicFramePr/>
          <p:nvPr/>
        </p:nvGraphicFramePr>
        <p:xfrm>
          <a:off xmlns:a="http://schemas.openxmlformats.org/drawingml/2006/main" x="809625" y="1781175"/>
          <a:ext xmlns:a="http://schemas.openxmlformats.org/drawingml/2006/main" cx="710565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4076700"/>
                <a:gridCol w="590550"/>
                <a:gridCol w="981075"/>
                <a:gridCol w="981075"/>
              </a:tblGrid>
              <a:tr h="400050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 de tarea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Dur.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Inicio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Análisis de requerimientos del proceso de pedidos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20/04/26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24/04/26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Diseño de tablas y relaciones para pedidos y detalle de pedidos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27/04/26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30/04/26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del registro de pedidos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6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01/05/26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08/05/26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del flujo de estados del pedido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11/05/26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14/05/26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asignación de responsable, historial y observaciones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15/05/26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19/05/26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Pruebas y correcciones del módulo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20/05/26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22/05/26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E272E-2708-4B45-A253-B0C42F89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8117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" name="20/04">
            <a:extLst xmlns:a="http://schemas.openxmlformats.org/drawingml/2006/main">
              <a:ext uri="{FF2B5EF4-FFF2-40B4-BE49-F238E27FC236}">
                <a16:creationId xmlns:a16="http://schemas.microsoft.com/office/drawing/2014/main" id="{1FDA8333-F8EE-48F9-A308-D20FE163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65780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20/04</a:t>
            </a:r>
          </a:p>
        </p:txBody>
      </p:sp>
      <p:sp>
        <p:nvSpPr>
          <p:cNvPr id="6" name="27/04">
            <a:extLst xmlns:a="http://schemas.openxmlformats.org/drawingml/2006/main">
              <a:ext uri="{FF2B5EF4-FFF2-40B4-BE49-F238E27FC236}">
                <a16:creationId xmlns:a16="http://schemas.microsoft.com/office/drawing/2014/main" id="{B5042276-E654-4D52-8270-C6A79899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8352" y="1876425"/>
            <a:ext cx="65780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27/04</a:t>
            </a:r>
          </a:p>
        </p:txBody>
      </p:sp>
      <p:sp>
        <p:nvSpPr>
          <p:cNvPr id="7" name="04/05">
            <a:extLst xmlns:a="http://schemas.openxmlformats.org/drawingml/2006/main">
              <a:ext uri="{FF2B5EF4-FFF2-40B4-BE49-F238E27FC236}">
                <a16:creationId xmlns:a16="http://schemas.microsoft.com/office/drawing/2014/main" id="{E092E261-B415-4A61-A9B6-67443AF4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5205" y="1876425"/>
            <a:ext cx="65780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04/05</a:t>
            </a:r>
          </a:p>
        </p:txBody>
      </p:sp>
      <p:sp>
        <p:nvSpPr>
          <p:cNvPr id="8" name="11/05">
            <a:extLst xmlns:a="http://schemas.openxmlformats.org/drawingml/2006/main">
              <a:ext uri="{FF2B5EF4-FFF2-40B4-BE49-F238E27FC236}">
                <a16:creationId xmlns:a16="http://schemas.microsoft.com/office/drawing/2014/main" id="{AB1FB9E7-29C9-432A-98C2-2BC43B10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057" y="1876425"/>
            <a:ext cx="65780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11/05</a:t>
            </a:r>
          </a:p>
        </p:txBody>
      </p:sp>
      <p:sp>
        <p:nvSpPr>
          <p:cNvPr id="9" name="18/05">
            <a:extLst xmlns:a="http://schemas.openxmlformats.org/drawingml/2006/main">
              <a:ext uri="{FF2B5EF4-FFF2-40B4-BE49-F238E27FC236}">
                <a16:creationId xmlns:a16="http://schemas.microsoft.com/office/drawing/2014/main" id="{C40B78D4-D69E-4525-8FD2-8E288D17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909" y="1876425"/>
            <a:ext cx="464416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18/05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1FE76-FF35-412D-B0D5-6B284B2F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A6394-5D7F-4EB8-8A64-E95EE388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C5F07-20B2-4A9F-8DF3-0969A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3615B-3D33-48C6-B107-6318328A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D4EF-ED1F-4453-AEA8-B299B31E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384A5-4810-459D-9B0D-F9C56887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99B37-DA8A-4644-A02E-D6C36E55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18769-8AFB-4BAC-B2D0-FFB5715E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80CC6-31DB-483E-B467-C78A718B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21812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4460C-4948-4F49-AA1E-170D788B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082DC-2853-457A-9C30-BDC0BE84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3388C-305D-43BD-8CA8-A8A7508D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78482-FEC5-4BEC-9AAC-D4F302B2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CA151-17F1-4501-93B4-A59FC609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45960-EC5F-4B5B-A9C0-D64AFDD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52675"/>
            <a:ext cx="48346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2863A-C5FD-43B2-9EF4-C53B0D74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146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A5ACF-B319-40A5-852C-6464E0CC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A0C5C-7FEE-400B-A0B3-F8FE979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8C2745-F811-4F07-B8BF-DE2D887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96764-3439-41B0-849B-3B3C40B7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CAA5A4-CDCA-4C7F-B830-82DFAB86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FF0F4D-6F65-4B43-B468-83F7E4FD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B39AAB-B70E-4BC6-8F73-204E8291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D28784-4A41-47E9-B102-0F726F40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5570B1-2A97-4FDF-94E0-F26E2A82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27241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CF06D2-1B33-4D1B-9BD9-211595D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5F7DB2-3ABE-413B-8013-9A95E8FB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74057A-F2BC-4537-B885-8E52CC14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93440C-A86B-4C97-8168-64E8CBED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17E937-A590-48E1-9187-4E12AD74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1FC1CF-5542-4575-B129-53A49CF8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2895600"/>
            <a:ext cx="38677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03353F-E966-434D-8898-94B4D4F7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575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6D5EB3-385E-4A07-A699-2B33844E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EC3B0B-1594-43DA-9DB4-07950922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D005F1-E7A9-43E9-8A2D-A2BE6431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9E084C-023D-4C0C-9BFF-0637026C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2DBF17-805D-490C-AD7B-F579AF88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B203F0-16C3-4BED-B4D7-3AB96403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D7D759-9058-4EFA-ADDE-95AA516B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651F9F-25F7-46DC-8605-C364AEF2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67D523-2BDD-40A7-B2B1-3051208E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326707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5F62E2-281D-495D-8A2D-1A0F2030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FA04FD-8A83-4D24-982F-93756B53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FC6967-A3D6-46BD-AD89-99EAA32C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0815E8-A7BC-4988-976F-F06BAB9B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68803C-2EE5-4B7E-8FE2-CDE5BC28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F6952C-BC1C-4003-94D0-5D04200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0" y="3438525"/>
            <a:ext cx="77354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DB6A40-DDE3-47A4-B9C9-C9CB12A3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004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665956-065D-4BCA-B1C0-1B253F13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8A7FF6-EAE4-4A2C-8057-9F5EF776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34F221-50E7-4BA9-8511-436260A2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59047E-62E8-4381-8148-1C257692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7F9082-6EA3-45D0-B881-216F866C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948B88-F9F5-4574-8976-B715A382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3C8867-8BE4-409F-B830-4512BDDD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C8DF63-E2B4-4DCF-9E79-726D00C7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E4837E-A9F7-4460-B016-178E1C48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381000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5AB4B7-2721-4F3A-8616-740A01BF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10C916-A1DE-4C13-85FF-AA30AAA6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FF96287-E163-421A-B25C-7CACEE99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2412D20-EB6B-4DE7-9D70-55ABD0A5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223BC4-A640-4544-A55E-DEA8E5E6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A67778D-2F64-41C2-A861-0DCF72FE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3981450"/>
            <a:ext cx="38677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AF46C4-E17D-454C-9247-48A6EC63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434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2DDCE1D-AE59-4718-8F75-281E5BA2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1D3756C-B145-4939-80E7-702C1C30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AEAAAD-0867-4BDF-BF02-26DEC089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DF26EDD-FDC6-491F-AEBA-6F08EA94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A2D37C9-59DD-46A2-9CB9-B1A5573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66E333-2DCC-4AC4-81F5-D4FD11AD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4F0CDD-830C-4387-8D2E-0DBAB64F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24F4F6-8C6F-4029-B9B6-6D1B7B8A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853CFC-981D-471D-BE55-3E7859D5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4352925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3FB698-87C3-47AE-A0A5-9CD26D12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E762E3F-D190-444E-9DDC-7DD33A9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098F297-0B83-4EC7-A054-AE2BE39F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93C04B6-E7D7-45DF-9D8D-F8CDCA0A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0D51996-C214-41B3-AE50-B3329DB1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E66EB41-7E54-4E8D-AD61-8F5F057D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305" y="4524375"/>
            <a:ext cx="48346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B0859A9-8F94-420F-87DD-B3A97215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863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980CF76-F391-4D5D-BF2C-B107DE3A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BD24BDC-81D1-4636-B773-3FC43662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41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5B84C30-F8CF-47CD-99F9-6F382AE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34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93AFF4-D0D9-4E17-BAFC-A8393B8D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293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97310E9-875D-4684-9BB9-8092CA20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986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E322EF0-A6E3-44E6-85B0-CCC2547F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145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63B8CA6-3C8D-4BA2-8648-71C1CA4C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839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FCD2F45-891D-4C52-88A5-ABDC0CFD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998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01E6874-1F8E-4448-8844-977EA2E4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691" y="4895850"/>
            <a:ext cx="9669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1C1729-897D-447C-B2BF-48C57A8D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7A9C053-762B-4BDE-A41E-E38B3D3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827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9EA40AD-08DD-489E-8EC8-5242D490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680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D01CD9A-98A4-4980-88C5-778B66BB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2532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66F6324-702C-4C70-8A04-4D7EC5CB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384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B326D2B-2236-4309-8676-D4C2EF25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770" y="5067300"/>
            <a:ext cx="29008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247DB40-0F6F-451C-954E-FA7AA048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292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6" name="Duraciones según el XML: jornada de 8 h. Barr">
            <a:extLst xmlns:a="http://schemas.openxmlformats.org/drawingml/2006/main">
              <a:ext uri="{FF2B5EF4-FFF2-40B4-BE49-F238E27FC236}">
                <a16:creationId xmlns:a16="http://schemas.microsoft.com/office/drawing/2014/main" id="{F7EAE381-2E67-41F8-AB4B-D8C1B7A1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Duraciones según el XML: jornada de 8 h. Barras = período programado, no porcentaje de avance.</a:t>
            </a:r>
          </a:p>
        </p:txBody>
      </p:sp>
      <p:sp>
        <p:nvSpPr>
          <p:cNvPr id="107" name="Cronograma XML 2026">
            <a:extLst xmlns:a="http://schemas.openxmlformats.org/drawingml/2006/main">
              <a:ext uri="{FF2B5EF4-FFF2-40B4-BE49-F238E27FC236}">
                <a16:creationId xmlns:a16="http://schemas.microsoft.com/office/drawing/2014/main" id="{4D16010B-2591-4A29-A4C6-DF9B134C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Cronograma XML 2026</a:t>
            </a:r>
          </a:p>
        </p:txBody>
      </p:sp>
      <p:sp>
        <p:nvSpPr>
          <p:cNvPr id="108" name="15 / 20">
            <a:extLst xmlns:a="http://schemas.openxmlformats.org/drawingml/2006/main">
              <a:ext uri="{FF2B5EF4-FFF2-40B4-BE49-F238E27FC236}">
                <a16:creationId xmlns:a16="http://schemas.microsoft.com/office/drawing/2014/main" id="{AAB9244C-3B03-444D-B1F3-70E16A19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271167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3. Gestión integral de inventarios">
            <a:extLst xmlns:a="http://schemas.openxmlformats.org/drawingml/2006/main">
              <a:ext uri="{FF2B5EF4-FFF2-40B4-BE49-F238E27FC236}">
                <a16:creationId xmlns:a16="http://schemas.microsoft.com/office/drawing/2014/main" id="{38AAA33B-7AF0-45D5-8268-5A2D955B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812768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pPr>
            <a:r>
              <a: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rPr>
              <a:t>3. Gestión integral de inventarios</a:t>
            </a:r>
          </a:p>
        </p:txBody>
      </p:sp>
      <p:sp>
        <p:nvSpPr>
          <p:cNvPr id="2" name="25/05 al 03/07 de 2026  ·  30 días laborables">
            <a:extLst xmlns:a="http://schemas.openxmlformats.org/drawingml/2006/main">
              <a:ext uri="{FF2B5EF4-FFF2-40B4-BE49-F238E27FC236}">
                <a16:creationId xmlns:a16="http://schemas.microsoft.com/office/drawing/2014/main" id="{3FA12B2E-8A5B-40E2-A7BA-DF3B0A6B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382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25/05 al 03/07 de 2026  ·  30 días laborables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3C239-71F3-4B14-9318-718A72B3E9B1}"/>
              </a:ext>
            </a:extLst>
          </p:cNvPr>
          <p:cNvGraphicFramePr/>
          <p:nvPr/>
        </p:nvGraphicFramePr>
        <p:xfrm>
          <a:off xmlns:a="http://schemas.openxmlformats.org/drawingml/2006/main" x="809625" y="1781175"/>
          <a:ext xmlns:a="http://schemas.openxmlformats.org/drawingml/2006/main" cx="7105650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4076700"/>
                <a:gridCol w="590550"/>
                <a:gridCol w="981075"/>
                <a:gridCol w="981075"/>
              </a:tblGrid>
              <a:tr h="400050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 de tarea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Dur.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Inicio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Análisis de requerimientos de inventario de producto terminado y materia prima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25/05/26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29/05/26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Diseño de tablas para productos terminados, insumos y movimientos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01/06/26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05/06/26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registro de productos terminados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08/06/26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12/06/26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registro de insumos y materia prima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15/06/26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19/06/26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movimientos de inventario: entradas, salidas, ajustes y mermas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22/06/26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26/06/26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stock mínimo, alertas y kardex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29/06/26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01/07/26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Pruebas y correcciones del módulo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02/07/26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03/07/26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4986C-FF8D-42AD-AC4F-071835D8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8117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" name="25/05">
            <a:extLst xmlns:a="http://schemas.openxmlformats.org/drawingml/2006/main">
              <a:ext uri="{FF2B5EF4-FFF2-40B4-BE49-F238E27FC236}">
                <a16:creationId xmlns:a16="http://schemas.microsoft.com/office/drawing/2014/main" id="{F47D80D6-3022-4797-8CBB-0069516D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53935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25/05</a:t>
            </a:r>
          </a:p>
        </p:txBody>
      </p:sp>
      <p:sp>
        <p:nvSpPr>
          <p:cNvPr id="6" name="01/06">
            <a:extLst xmlns:a="http://schemas.openxmlformats.org/drawingml/2006/main">
              <a:ext uri="{FF2B5EF4-FFF2-40B4-BE49-F238E27FC236}">
                <a16:creationId xmlns:a16="http://schemas.microsoft.com/office/drawing/2014/main" id="{8873BDE9-ED6F-4F05-8CDD-AA13CDCE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903" y="1876425"/>
            <a:ext cx="53935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01/06</a:t>
            </a:r>
          </a:p>
        </p:txBody>
      </p:sp>
      <p:sp>
        <p:nvSpPr>
          <p:cNvPr id="7" name="08/06">
            <a:extLst xmlns:a="http://schemas.openxmlformats.org/drawingml/2006/main">
              <a:ext uri="{FF2B5EF4-FFF2-40B4-BE49-F238E27FC236}">
                <a16:creationId xmlns:a16="http://schemas.microsoft.com/office/drawing/2014/main" id="{E0ADB626-6216-402E-8FCC-1C2472A1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306" y="1876425"/>
            <a:ext cx="53935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08/06</a:t>
            </a:r>
          </a:p>
        </p:txBody>
      </p:sp>
      <p:sp>
        <p:nvSpPr>
          <p:cNvPr id="8" name="15/06">
            <a:extLst xmlns:a="http://schemas.openxmlformats.org/drawingml/2006/main">
              <a:ext uri="{FF2B5EF4-FFF2-40B4-BE49-F238E27FC236}">
                <a16:creationId xmlns:a16="http://schemas.microsoft.com/office/drawing/2014/main" id="{E314F506-21C5-4788-9B4D-F2630B17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709" y="1876425"/>
            <a:ext cx="53935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15/06</a:t>
            </a:r>
          </a:p>
        </p:txBody>
      </p:sp>
      <p:sp>
        <p:nvSpPr>
          <p:cNvPr id="9" name="22/06">
            <a:extLst xmlns:a="http://schemas.openxmlformats.org/drawingml/2006/main">
              <a:ext uri="{FF2B5EF4-FFF2-40B4-BE49-F238E27FC236}">
                <a16:creationId xmlns:a16="http://schemas.microsoft.com/office/drawing/2014/main" id="{3F509C53-9443-46F1-BBD2-4F41F5E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113" y="1876425"/>
            <a:ext cx="53935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22/06</a:t>
            </a:r>
          </a:p>
        </p:txBody>
      </p:sp>
      <p:sp>
        <p:nvSpPr>
          <p:cNvPr id="10" name="29/06">
            <a:extLst xmlns:a="http://schemas.openxmlformats.org/drawingml/2006/main">
              <a:ext uri="{FF2B5EF4-FFF2-40B4-BE49-F238E27FC236}">
                <a16:creationId xmlns:a16="http://schemas.microsoft.com/office/drawing/2014/main" id="{2328F298-3EB3-46D7-8904-39E5770E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3516" y="1876425"/>
            <a:ext cx="37980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29/06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00331-6C66-4F2D-8E8A-D9D619BF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4C1C7-6099-4AF4-8B04-54744F71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834" y="21812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59077-8E5B-4E16-BC89-E8FE1A00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606" y="21812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DC0B4-025F-460B-B142-FF9702CB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1812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4DA59-9A31-4736-868D-6C780F25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009" y="21812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87908-741D-4998-8035-E9F82D61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641" y="21812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4A6D3-E139-43AD-A4E1-F67FC640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1812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B5FB3-5521-4194-9963-B3114D10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44" y="21812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82441-DE47-46E2-8D8F-7D79C157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816" y="21812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E598D-B62B-4D9F-BA86-A7DA7A7E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447" y="21812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1D695-BA34-4F1A-AD9A-7B1EFA06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219" y="21812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22F86-D162-4558-AC3E-99996F73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3747B-218C-4AF0-BD4A-124481CD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78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D5B0C-511D-4F70-AE7E-2DF153F3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F42C1-AC61-4AF4-99EF-35EDF70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184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A61A32-E6A3-4A43-B33F-8DE2813C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588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CA387-27A0-4E91-8950-1FAE01D4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91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548BC-F002-42B5-A3A3-29464DA1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52675"/>
            <a:ext cx="398859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E6C75E-936C-4F25-8E77-8CDAA5D4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146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FF67B1-24F8-4F63-A061-DE23A59C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0B6684-BBB4-42A8-A052-02ED7172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834" y="27241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69DD3F-57D9-4B13-9465-C8951B2C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606" y="27241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71E5C7-D5E3-4790-A7F4-D7C42843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7241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3C6BBC-A9D2-42D8-9B10-AE57B3E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009" y="27241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3F8167-6BB4-4457-A816-213E4916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641" y="27241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A64C77-4E7E-4F60-93AA-809A6BA3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7241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B81349-BDE3-422B-80F6-BE00C12D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44" y="27241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B9F5A4-47F8-4FE6-BB05-EB07248E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816" y="27241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804AC4-77A0-49EF-B4E1-1A1A6D72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447" y="27241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4F6E03-A3AF-4A80-9B69-C016E131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219" y="27241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8B6F66-AB31-4BC4-8FA3-77747271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18DB74-A927-4778-872D-A8CC8DBD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78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D7B041-A014-4289-B4E5-0717DE2A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3C497B-35E8-4D83-B294-B4F1DEF6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184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5F5376-2615-46CF-B5B0-411165D2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588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4907EE-CD14-47D1-8AA0-B68091E5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91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753BD0-0BB2-4065-A41F-1A3DD5C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78" y="2895600"/>
            <a:ext cx="398859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CE50E3-203A-4B0F-82BA-B604F5A0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575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E20819-CEDD-4E0F-AA38-7C79AA74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1B116A-C31D-46EB-8C99-EB799AC8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834" y="32670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1BCF66-C69D-41C0-8910-44F05221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606" y="32670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07405-53DB-4E15-B747-CE77F0B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70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E6A6BD-02E3-4134-B162-96323C90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009" y="32670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FDFEE8-3B03-4618-B065-67C3DDF0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641" y="32670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1A0DE5-BB06-4FFC-BCBF-AC72596D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2670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02E715-81AD-4BB4-A56E-30135E61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44" y="32670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8D46B6-4E3E-45FD-BE72-10AC229C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816" y="32670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6E7BFF-4FA1-4ECF-8CE0-01491DFC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447" y="32670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C2119F-CE17-4346-975B-4902DA09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219" y="32670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2FA2D1-0A45-4364-8436-A4B3323B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77ADFEF-BED7-421C-BC3C-5983EC55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78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B29F66-DA5C-4369-95E0-DB3777B0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179C5A-FB11-4CE4-A846-4EEE03CF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184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AC49B5-1650-4141-B097-540A54A5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588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7D77E1-CE36-4C01-A3D9-4C0090A9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91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0D139C5-1D3D-4D85-8373-E7D6F132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3438525"/>
            <a:ext cx="398859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9728C7-A48D-46BC-9CCA-C748B6F1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004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B21ACE-2B04-4041-82EE-11486A0B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B05BC03-CB22-49DA-9797-9C25E86C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834" y="381000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C233D7-9C8B-44E4-862E-27AED8CB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606" y="381000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A4E29A-8EF4-46C1-9EB7-CD244A81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81000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325D88B-C2A2-4736-8314-FA240735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009" y="381000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C1054D-F749-48CB-BD18-3FB4F6B9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641" y="381000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19C7330-AAA7-4B38-BBC4-F71E05D0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81000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D40A7D-A7F8-4D12-B4D4-01E40CAA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44" y="381000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562A989-627C-4D3B-BE3A-60A17851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816" y="381000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8108FBD-DB6A-4078-BBA0-AF40D132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447" y="381000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F23F522-DC95-4F91-BC3D-4DF5CE29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219" y="381000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BDA0BA6-AB8F-45EB-BCD6-F961180E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B80596-812E-45C6-9DA0-2E732B52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78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FBF25DF-121C-4517-88D3-0C83E7CE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C0993D-8A0B-43A6-B5E3-18794111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184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D83A41-7407-4DFB-A2AD-1F506B91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588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BF3FF6C-5915-4E20-B198-FC904E1D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91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0EB595-72A9-4CA7-9361-EDFB13D1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184" y="3981450"/>
            <a:ext cx="398859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EECB82A-1538-4E8D-8439-3E4757FA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434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BFE61C6-30B8-4617-B783-4E0091C7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2F18B35-1089-4D76-B1FA-0551A549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834" y="43529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6D9E52-237C-4653-8A6E-7C4D8201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606" y="43529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24E5069-FDAE-494F-A227-A4E636E8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43529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52D7C1C-5796-4D5E-AFA2-2C1D41F0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009" y="43529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46CC5AA-169C-4D54-BAFC-4554D902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641" y="43529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918A88A-C810-4C4D-9271-11F04A20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3529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7D9865-6F66-4CB3-8145-ADBDB525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44" y="43529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AF2AD7D-94E1-4621-BF0E-90390878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816" y="43529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3A9424-55E5-483E-8AC9-628F69C8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447" y="43529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E9010BD-833C-4037-9177-42A752FA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219" y="435292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1BB0D53-4FA3-4E09-8138-C5F6B49A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A0D898-EB15-4B1F-B3D6-F61C24D3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78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9C1DB9D-7258-46C1-8572-AA4702ED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12DCDE6-99C2-4EF5-8E84-7B5C8260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184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DC0DAE7-BEC0-4D79-85B3-2A25075E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588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3D5DCE5-973B-4380-98D5-0D0E4561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91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B0E369C-7C79-43C1-B9D5-8D590388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588" y="4524375"/>
            <a:ext cx="398859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E6A597-2BD3-411F-A983-DF16556D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863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E5281E2-3740-4ED7-840B-3C088E82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5FF214-932A-4665-8518-DE6C3B63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834" y="48958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33A913E-B59D-47E3-9AD1-BC056B61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606" y="48958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884D5BB-9B26-4574-AD78-85FB8F5E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48958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349646E-083F-49C1-9338-9EF876FE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009" y="48958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710BFF2-F04D-4CA9-91E8-3B317BA3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641" y="48958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E5B6C81-2882-46D0-B6DD-9C4A1919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8958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009D447-AF9D-4506-B474-39B1E1A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44" y="48958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B6BDAC8-7D7C-4818-8082-393F3820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816" y="48958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32C64F6-16BE-475B-AB70-50B82E0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447" y="48958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5A6CADA-B326-4C09-9371-F9F7D70B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219" y="4895850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E230699-5BA3-46BD-857A-1F541CC1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F07EF6A-E151-4CBD-8C51-F125023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78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0E4521A-997D-4017-91A5-553804DF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F7FB940-9E3C-4F8B-B81F-2D1E2834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184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6C488C2-9E3F-44E8-B06C-56F5E4C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588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C4FA203-6AD4-4906-9BB2-2C7CC796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91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97FEA06-AE26-4DE4-A720-2BDC697B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91" y="5067300"/>
            <a:ext cx="23931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E1FD3FA-4718-4B1C-A76C-86473B0C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292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442AA6F-DA21-49B5-9F6B-DAD02623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387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03A38DC-5676-4232-837C-A04085D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834" y="54387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319A3E5-3184-480C-996F-5CFAF2AD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606" y="54387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F80751E-06DA-454F-89E8-15F2B73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54387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6DB485C-0454-40C6-B3C2-81A8437E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009" y="54387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C69C2BA-2A72-49B4-9C9A-A5A0B36E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641" y="54387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CF3D432-A43F-48FF-961C-5393CDF9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54387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E1AFD51-B97C-4B3F-8846-856B26BE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44" y="54387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B6A123F-F116-4761-A950-26E53D3D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816" y="54387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0F1D033-CDAD-4119-9CAC-5E9AFD4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447" y="54387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92DF557-BBD0-4D4A-BF70-9AFE4618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219" y="5438775"/>
            <a:ext cx="79772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EEC46FF-38C1-4D42-8848-0F4BA39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3136266-7A1D-497F-9CB9-0DD56B80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378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EA01FE1-80C2-499A-AAA5-FA509982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62DFAE0-6015-45E2-9108-2FCBBA84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184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3A3629F-D62D-4058-B4B7-641127C0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588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D72A181-6F4E-48D6-A16E-1242940C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91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71AA240-71C5-422D-A7B2-BB1BBFD4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3306" y="5610225"/>
            <a:ext cx="159544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CBCE9F4-420C-4E36-A06C-7DAA597D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9721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4" name="Duraciones según el XML: jornada de 8 h. Barr">
            <a:extLst xmlns:a="http://schemas.openxmlformats.org/drawingml/2006/main">
              <a:ext uri="{FF2B5EF4-FFF2-40B4-BE49-F238E27FC236}">
                <a16:creationId xmlns:a16="http://schemas.microsoft.com/office/drawing/2014/main" id="{FB1EBD8B-89BD-4ABA-B5CA-DFF022BC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Duraciones según el XML: jornada de 8 h. Barras = período programado, no porcentaje de avance.</a:t>
            </a:r>
          </a:p>
        </p:txBody>
      </p:sp>
      <p:sp>
        <p:nvSpPr>
          <p:cNvPr id="145" name="Cronograma XML 2026">
            <a:extLst xmlns:a="http://schemas.openxmlformats.org/drawingml/2006/main">
              <a:ext uri="{FF2B5EF4-FFF2-40B4-BE49-F238E27FC236}">
                <a16:creationId xmlns:a16="http://schemas.microsoft.com/office/drawing/2014/main" id="{E8DB53E7-E79C-494A-AFAC-6B8571B2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Cronograma XML 2026</a:t>
            </a:r>
          </a:p>
        </p:txBody>
      </p:sp>
      <p:sp>
        <p:nvSpPr>
          <p:cNvPr id="146" name="16 / 20">
            <a:extLst xmlns:a="http://schemas.openxmlformats.org/drawingml/2006/main">
              <a:ext uri="{FF2B5EF4-FFF2-40B4-BE49-F238E27FC236}">
                <a16:creationId xmlns:a16="http://schemas.microsoft.com/office/drawing/2014/main" id="{FE6246F8-EBA5-4DB0-8250-2C1EC268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498677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4. Control de pagos">
            <a:extLst xmlns:a="http://schemas.openxmlformats.org/drawingml/2006/main">
              <a:ext uri="{FF2B5EF4-FFF2-40B4-BE49-F238E27FC236}">
                <a16:creationId xmlns:a16="http://schemas.microsoft.com/office/drawing/2014/main" id="{D400787B-7756-47F7-8D6D-EFFF7E17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812768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pPr>
            <a:r>
              <a: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rPr>
              <a:t>4. Control de pagos</a:t>
            </a:r>
          </a:p>
        </p:txBody>
      </p:sp>
      <p:sp>
        <p:nvSpPr>
          <p:cNvPr id="2" name="06/07 al 31/07 de 2026  ·  20 días laborables">
            <a:extLst xmlns:a="http://schemas.openxmlformats.org/drawingml/2006/main">
              <a:ext uri="{FF2B5EF4-FFF2-40B4-BE49-F238E27FC236}">
                <a16:creationId xmlns:a16="http://schemas.microsoft.com/office/drawing/2014/main" id="{28590033-9297-46EE-A82A-A634933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382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06/07 al 31/07 de 2026  ·  20 días laborables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12766-1A15-42B4-AD23-2BE1B78CD076}"/>
              </a:ext>
            </a:extLst>
          </p:cNvPr>
          <p:cNvGraphicFramePr/>
          <p:nvPr/>
        </p:nvGraphicFramePr>
        <p:xfrm>
          <a:off xmlns:a="http://schemas.openxmlformats.org/drawingml/2006/main" x="809625" y="1781175"/>
          <a:ext xmlns:a="http://schemas.openxmlformats.org/drawingml/2006/main" cx="710565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4076700"/>
                <a:gridCol w="590550"/>
                <a:gridCol w="981075"/>
                <a:gridCol w="981075"/>
              </a:tblGrid>
              <a:tr h="400050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 de tarea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Dur.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Inicio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Análisis de requerimientos del proceso de pagos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06/07/26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09/07/26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Diseño de tablas para pagos, métodos de pago y estados financieros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10/07/26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14/07/26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del registro de pagos por pedido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15/07/26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21/07/26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cálculo de saldo pendiente y estado financiero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22/07/26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24/07/26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historial de pagos y comprobantes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27/07/26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29/07/26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Pruebas y correcciones del módulo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30/07/26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31/07/26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AA95C-C40F-4031-B93A-92F371A3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8117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" name="06/07">
            <a:extLst xmlns:a="http://schemas.openxmlformats.org/drawingml/2006/main">
              <a:ext uri="{FF2B5EF4-FFF2-40B4-BE49-F238E27FC236}">
                <a16:creationId xmlns:a16="http://schemas.microsoft.com/office/drawing/2014/main" id="{66D1CA81-4859-4603-8B40-70358D47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84003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06/07</a:t>
            </a:r>
          </a:p>
        </p:txBody>
      </p:sp>
      <p:sp>
        <p:nvSpPr>
          <p:cNvPr id="6" name="13/07">
            <a:extLst xmlns:a="http://schemas.openxmlformats.org/drawingml/2006/main">
              <a:ext uri="{FF2B5EF4-FFF2-40B4-BE49-F238E27FC236}">
                <a16:creationId xmlns:a16="http://schemas.microsoft.com/office/drawing/2014/main" id="{7DEE1549-66D5-490B-B5FF-37E0EC71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582" y="1876425"/>
            <a:ext cx="84003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13/07</a:t>
            </a:r>
          </a:p>
        </p:txBody>
      </p:sp>
      <p:sp>
        <p:nvSpPr>
          <p:cNvPr id="7" name="20/07">
            <a:extLst xmlns:a="http://schemas.openxmlformats.org/drawingml/2006/main">
              <a:ext uri="{FF2B5EF4-FFF2-40B4-BE49-F238E27FC236}">
                <a16:creationId xmlns:a16="http://schemas.microsoft.com/office/drawing/2014/main" id="{833835B0-C145-42E0-B6FE-9A0B051C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663" y="1876425"/>
            <a:ext cx="84003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20/07</a:t>
            </a:r>
          </a:p>
        </p:txBody>
      </p:sp>
      <p:sp>
        <p:nvSpPr>
          <p:cNvPr id="8" name="27/07">
            <a:extLst xmlns:a="http://schemas.openxmlformats.org/drawingml/2006/main">
              <a:ext uri="{FF2B5EF4-FFF2-40B4-BE49-F238E27FC236}">
                <a16:creationId xmlns:a16="http://schemas.microsoft.com/office/drawing/2014/main" id="{CD4195EB-27BD-490F-863D-C2F7538D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45" y="1876425"/>
            <a:ext cx="59458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27/07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BBBC3-8CB0-41F2-B83E-A1F45946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A783A-163C-49FD-8B97-B71AE81F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7DD62-5856-4C3C-83AE-9D230E11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2F7D1-D24E-4DDC-867C-743869BB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BCE30-DE70-4656-AF42-539FCFF9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C0D39-B632-4F12-A809-B4F81C9D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D6F10-A13C-431B-BB12-EAD699D7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239D2-4C17-4C98-83BE-BDAF63D5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20143-CC14-4F68-A7C7-13255AF3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17C78-E144-4F6D-B975-E8DD72F4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DCE57-0792-4508-9E7B-20272339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4941C-85ED-42DC-834D-111E2A5D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52675"/>
            <a:ext cx="490904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C64D4-E3F3-4A02-ACCD-8122F168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146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209B1-21B7-4927-ACE0-8CFD45BD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D403D-F1F1-41A8-9A6F-BD4F8835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58DBC-7DF5-42E9-92B8-CE69744C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9C0BE-C445-4B1C-B2CF-C522FF21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F0E6C-C6B0-4B78-A070-F31607C6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8B856E-7D23-4049-BF3B-DCB8C33D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0CD3F-22AC-4EAC-861A-BFDCF45C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CCAE6D-F05D-4ECD-9B36-AE1B6B9F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09D1D7-1E0D-4B30-8A0F-9AFB7CF5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B232A6-3FBA-4CA4-916B-9BB0F07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F0B849-4D07-4E29-9282-6CBE7E95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481B09-BE68-4199-A251-DD3800C2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79" y="2895600"/>
            <a:ext cx="61363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5E585B-1940-42FE-B6F5-90690877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575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211DE9-A929-4F0C-8048-57EF1262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CAE645-688B-440A-AEA3-89E1D880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A8AF6E-C0E6-4247-8337-7E3494E6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2F8162-7FA3-4D2E-BD63-D237C63D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55CDBC-91F6-442B-8EAF-90432874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DD1D15-C168-4642-9C61-8C9D932B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C10D15-1259-4AC3-B7E5-8743C584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435991-C948-46A8-A553-011E8EA0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5E7E22-C401-4DFF-B267-D4D1F802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3745DD-4555-4DB9-A8D4-F941A084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8E37CF-D3B8-40B8-A62E-8D5FD5C0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B0441D-F0DA-4E0C-BDB0-AA73617A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509" y="3438525"/>
            <a:ext cx="859082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CE3674-D3E4-4F35-9C7C-2E8B4DAB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004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C810F2-9732-4B9C-8FD7-394DC3CC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5C2547-61AF-4446-BAF0-88D88D84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83B2D3-F2FA-41ED-ABBF-26B336F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5EA0AD-5A39-4414-964E-BA235313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8248A1-978D-461E-83B1-3DA51F22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D1ACD0-ECD1-4945-9800-0450BC7D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828B7F-2B8F-408D-91F7-0FA2E94D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2933F9-9126-4393-804E-9E2CBB51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3D50FE-1845-499C-BC87-13B84758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9CB566-931A-45D9-9639-E2745AD2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95E4ED-EF00-4B4C-A146-780CA2FF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4C81A5-C26C-4505-AA08-D1D2CE46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590" y="3981450"/>
            <a:ext cx="368178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43FE54-885A-4ACA-AEE8-48D2B579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434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0718EB-DB09-4D24-8753-18D2BFF3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C55D7C-5C10-4AC9-B247-A7E6D2D4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B28EF7-D873-4572-A7DD-23F82772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FCDDB0-59D1-424C-817B-56644A4C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4BB08F-3FCF-49C1-8B22-FE8276CA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B59302C-7AEB-4D2F-B1F6-CCA201C4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E733F7-EA4D-499D-BBC6-76649D97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6B56CA-9D8E-4815-B126-9492E700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BD332F-3FEF-443A-A66B-512AC041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9F01E0-9D72-402F-91C8-C80C6B8E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87054C-EF9B-47DB-94E6-569AA0F4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A4478B-F690-45A3-B357-941A6965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4524375"/>
            <a:ext cx="368178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865AFB-586F-44D7-BC4C-D0AB15BB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863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D8A145-FA8C-425A-BAC6-6D8189DF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14B826-1299-4A09-A55E-99C1C5A2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91F766-D509-4D90-BD4D-0F98B1BF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2AE0AA3-1F2C-4701-AA09-08D55E4B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384215C-38DD-465B-A4EA-105D277B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87EF1CB-16EE-4A8B-816D-04620E9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1C212D-F8BB-4749-920C-22D2EAD5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FC31671-9C02-4078-873F-FE63E14B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242DFF6-4B81-49E5-B15B-EBA37572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70E5CE0-4BEF-4FC2-B229-BF8882B9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08759DA-2C18-48B0-B615-81A2C9A5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76C3125-1583-44D4-9736-CBD5378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398" y="5067300"/>
            <a:ext cx="245452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B296D47-3C85-4D7A-81D2-B3E4092B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292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7" name="Duraciones según el XML: jornada de 8 h. Barr">
            <a:extLst xmlns:a="http://schemas.openxmlformats.org/drawingml/2006/main">
              <a:ext uri="{FF2B5EF4-FFF2-40B4-BE49-F238E27FC236}">
                <a16:creationId xmlns:a16="http://schemas.microsoft.com/office/drawing/2014/main" id="{D487F1F9-5711-43BE-B83E-C705A83D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Duraciones según el XML: jornada de 8 h. Barras = período programado, no porcentaje de avance.</a:t>
            </a:r>
          </a:p>
        </p:txBody>
      </p:sp>
      <p:sp>
        <p:nvSpPr>
          <p:cNvPr id="88" name="Cronograma XML 2026">
            <a:extLst xmlns:a="http://schemas.openxmlformats.org/drawingml/2006/main">
              <a:ext uri="{FF2B5EF4-FFF2-40B4-BE49-F238E27FC236}">
                <a16:creationId xmlns:a16="http://schemas.microsoft.com/office/drawing/2014/main" id="{1365652A-71AD-45E0-99FA-E42F15D0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Cronograma XML 2026</a:t>
            </a:r>
          </a:p>
        </p:txBody>
      </p:sp>
      <p:sp>
        <p:nvSpPr>
          <p:cNvPr id="89" name="17 / 20">
            <a:extLst xmlns:a="http://schemas.openxmlformats.org/drawingml/2006/main">
              <a:ext uri="{FF2B5EF4-FFF2-40B4-BE49-F238E27FC236}">
                <a16:creationId xmlns:a16="http://schemas.microsoft.com/office/drawing/2014/main" id="{19F2523C-244E-47C0-8FAD-41291FD6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509865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5. Asistencia del personal">
            <a:extLst xmlns:a="http://schemas.openxmlformats.org/drawingml/2006/main">
              <a:ext uri="{FF2B5EF4-FFF2-40B4-BE49-F238E27FC236}">
                <a16:creationId xmlns:a16="http://schemas.microsoft.com/office/drawing/2014/main" id="{27575CBA-063E-4197-BDD2-64C004C8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812768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pPr>
            <a:r>
              <a: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rPr>
              <a:t>5. Asistencia del personal</a:t>
            </a:r>
          </a:p>
        </p:txBody>
      </p:sp>
      <p:sp>
        <p:nvSpPr>
          <p:cNvPr id="2" name="03/08 al 28/08 de 2026  ·  20 días laborables">
            <a:extLst xmlns:a="http://schemas.openxmlformats.org/drawingml/2006/main">
              <a:ext uri="{FF2B5EF4-FFF2-40B4-BE49-F238E27FC236}">
                <a16:creationId xmlns:a16="http://schemas.microsoft.com/office/drawing/2014/main" id="{16643E17-A355-41BF-9E2D-01FF5D03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382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03/08 al 28/08 de 2026  ·  20 días laborables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B56D2-2E85-4248-8560-5DFE0A697628}"/>
              </a:ext>
            </a:extLst>
          </p:cNvPr>
          <p:cNvGraphicFramePr/>
          <p:nvPr/>
        </p:nvGraphicFramePr>
        <p:xfrm>
          <a:off xmlns:a="http://schemas.openxmlformats.org/drawingml/2006/main" x="809625" y="1781175"/>
          <a:ext xmlns:a="http://schemas.openxmlformats.org/drawingml/2006/main" cx="7105650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4076700"/>
                <a:gridCol w="590550"/>
                <a:gridCol w="981075"/>
                <a:gridCol w="981075"/>
              </a:tblGrid>
              <a:tr h="400050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 de tarea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Dur.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Inicio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Análisis de requerimientos de empleados, asistencia y permisos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03/08/26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06/08/26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Diseño de tablas para empleados, asistencias y permisos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07/08/26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11/08/26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del registro y consulta de empleados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12/08/26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17/08/26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del registro de entradas y salidas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18/08/26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20/08/26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control de tardanzas, ausencias y permisos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21/08/26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25/08/26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resumen mensual por empleado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26/08/26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27/08/26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Pruebas y correcciones del módulo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28/08/26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28/08/26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9EC59-2894-4146-B67F-D2E53F87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8117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" name="03/08">
            <a:extLst xmlns:a="http://schemas.openxmlformats.org/drawingml/2006/main">
              <a:ext uri="{FF2B5EF4-FFF2-40B4-BE49-F238E27FC236}">
                <a16:creationId xmlns:a16="http://schemas.microsoft.com/office/drawing/2014/main" id="{D3FD6B46-4ADF-4850-A74C-8748461F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84003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03/08</a:t>
            </a:r>
          </a:p>
        </p:txBody>
      </p:sp>
      <p:sp>
        <p:nvSpPr>
          <p:cNvPr id="6" name="10/08">
            <a:extLst xmlns:a="http://schemas.openxmlformats.org/drawingml/2006/main">
              <a:ext uri="{FF2B5EF4-FFF2-40B4-BE49-F238E27FC236}">
                <a16:creationId xmlns:a16="http://schemas.microsoft.com/office/drawing/2014/main" id="{D035816C-9370-482E-9999-FC32E540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582" y="1876425"/>
            <a:ext cx="84003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10/08</a:t>
            </a:r>
          </a:p>
        </p:txBody>
      </p:sp>
      <p:sp>
        <p:nvSpPr>
          <p:cNvPr id="7" name="17/08">
            <a:extLst xmlns:a="http://schemas.openxmlformats.org/drawingml/2006/main">
              <a:ext uri="{FF2B5EF4-FFF2-40B4-BE49-F238E27FC236}">
                <a16:creationId xmlns:a16="http://schemas.microsoft.com/office/drawing/2014/main" id="{3D3D590E-6090-4ACF-B7C5-D994E94E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663" y="1876425"/>
            <a:ext cx="84003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17/08</a:t>
            </a:r>
          </a:p>
        </p:txBody>
      </p:sp>
      <p:sp>
        <p:nvSpPr>
          <p:cNvPr id="8" name="24/08">
            <a:extLst xmlns:a="http://schemas.openxmlformats.org/drawingml/2006/main">
              <a:ext uri="{FF2B5EF4-FFF2-40B4-BE49-F238E27FC236}">
                <a16:creationId xmlns:a16="http://schemas.microsoft.com/office/drawing/2014/main" id="{2B213DFF-90C6-4213-92B4-FAC6F79F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45" y="1876425"/>
            <a:ext cx="59458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24/08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89464-B7E5-4938-B7C4-C9EE4C4F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27808-E6AA-4E5C-8DCF-29593565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978F9-EE9F-4C22-BAA1-6A66BDC6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3A5F1-F4DC-4459-B4A5-69CD6EAD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13DB6-C5C3-4E7C-8F35-C7A74EF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16E56-4F0C-4496-8209-C0A502C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FDF57-544D-44F1-8616-848F06D3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43FFF-0839-4A62-A06F-73D4845F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088A6-1315-433F-AC1C-A6B0990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E457F-60F2-4E77-92F2-D2CD55BC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9AD8E-6693-43A0-9F13-6895B201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81049-3CE3-40F5-8832-8BFD876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52675"/>
            <a:ext cx="490904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21AE4-5FF5-4E33-8385-8F5F9489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146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08B9E-CAE7-42AF-B7F4-80F7FA3D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7154B6-BACF-477D-848C-4421D922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B21C4F-0674-40B4-A863-B1C3589F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A7ADC3-50F1-4895-83F8-2FD722C7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7BFEE-C0A2-4FEA-92D2-EEA2DBF3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6F7C2-B0D5-4319-BFDA-67D78083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09D86-618B-4831-9516-0451180F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D8A56-7E16-4067-BE97-8A486D0A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A2A5ED-1928-49E6-86FB-00BC9A30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E7A3B7-1B1A-4C29-AD51-E7A4C43A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BB85FE-76E1-409F-A816-DAC46107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D34762-5E9B-4C8A-8A95-502977C0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79" y="2895600"/>
            <a:ext cx="61363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CA0F1C-4680-467A-8610-86107512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575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C4C7D3-4D28-4C50-B758-5358B7D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0EA40E-CF81-4D36-B2EA-8D83B652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DAD0E-344E-48F4-8C4B-DB37EE2E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71DF12-1DC5-40FD-98E7-ADCECDBF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797804-553F-4F70-B54A-EE4EDAA6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DF0672-F0B6-49E7-B707-14FBECE4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7E226E-09A6-4FDD-AA50-E21A795D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04B6AD-3141-4542-AD1B-2EE92BFC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47F233-4AED-4D10-AAB1-0F4FE517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0A1303-861D-4450-8ACD-1F71434F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3C39AA-6BC9-4A2F-8985-334FA9B4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2CC7C5-0138-44DA-BD80-A8B600A3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509" y="3438525"/>
            <a:ext cx="73635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4039D2-52D2-4EF5-A7BD-EE2F5186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004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3B597E-3D9F-481B-941C-1AB8D09A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58D686-BACF-4C8C-8A18-3E0FA784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523A06-0CF6-49B0-A3C1-F655E32E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503F7B-8E2A-4531-B1AF-FF162A15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1D8607-E83D-446E-BFFE-99ECA6E5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1AF60E-F33A-43DA-953F-3030DAB5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CF824A-D572-4D54-ACBE-18ABFBA1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B3C6C2-040F-426B-A44A-E34241E4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C69AE0-4EFE-4B82-BD05-13564848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61B4EA-3A15-4DD0-9EBA-65ABCD38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798FCF-589A-4C76-91FD-B4FB97F8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24F2D1-3329-4BCB-9FA0-191841A4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864" y="3981450"/>
            <a:ext cx="368178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B9C41E-4C42-43D9-A438-6BD4968C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434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499311-4B21-4F07-9FE9-4BFB2CCA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B8E12B-9F17-40D5-98AA-017CB9C3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B4482F-6956-4062-83F7-93202578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4E6474-5BBB-4B84-A290-4A0457E5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B2C85E-1AE1-44C6-B10D-462EA118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983452-09B3-4D37-ABE5-DF642F9A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FD1AC6-8A76-43AF-B975-671A066A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A4D952-6661-4CF9-9135-35313049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CADC05-346B-4317-BF91-58C0EA6B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7DCFB4-958B-4E2C-892D-AE194A02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8F4202-FE15-4E43-9CAB-1F490514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0BC1C4-3178-49FE-96CD-C4563BD7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042" y="4524375"/>
            <a:ext cx="61363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3BE889-77A9-4C36-9CFC-2B7DF81C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863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623D83-39E4-4173-888F-DE93C545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C37CA0-62CA-4C8C-90A9-2327514B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2BBF58D-96C4-4E02-9D14-4D4035C0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589D389-76B9-4604-AB9E-D1AA6834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C92F10A-F1DB-4F61-97FE-B6BF9D37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D464464-87C3-4B4E-9FDA-BB3B2CB2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08244DD-1E37-4ED0-AD83-391352F7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E665EB5-FBE3-4FC9-9E96-6E18231E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B764F4-4610-47A0-9143-BF8D259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06021CF-9D79-46F2-A8C0-E1D69561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E68504-D74F-4D9F-8730-D4248F5A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70B9DE0-26AE-47C4-B89B-8E96A128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672" y="5067300"/>
            <a:ext cx="245452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7BEE329-2A9C-4A88-95AB-0D969349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292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B922211-47FF-4D70-B25A-59940119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387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56E8AD5-1128-4615-A60B-C945AA2B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54387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7142AEA-7B96-49D2-B103-172D89F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54387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A33DE03-B8B7-435E-A020-35586FF7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54387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932A86F-2633-45D1-A1AE-A8A16756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54387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661EF8A-87C5-4B06-B08B-C9C6E174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54387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289B52C-7393-4546-B208-A40D819E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54387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2C25F32-3339-42C3-B253-DB98D727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418E502-BDBE-4FD7-B4BA-9A8CE729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09A895-C8FA-432C-BCF0-764B29CB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DFDE68-998A-4C0E-9B41-040C1E6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54387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02AD202-380B-4FFD-9230-1F6D3582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124" y="5610225"/>
            <a:ext cx="12272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86649C-D7BE-44F2-A027-BE171364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9721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0" name="Duraciones según el XML: jornada de 8 h. Barr">
            <a:extLst xmlns:a="http://schemas.openxmlformats.org/drawingml/2006/main">
              <a:ext uri="{FF2B5EF4-FFF2-40B4-BE49-F238E27FC236}">
                <a16:creationId xmlns:a16="http://schemas.microsoft.com/office/drawing/2014/main" id="{76BC752D-E628-4AE7-A721-63D75060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Duraciones según el XML: jornada de 8 h. Barras = período programado, no porcentaje de avance.</a:t>
            </a:r>
          </a:p>
        </p:txBody>
      </p:sp>
      <p:sp>
        <p:nvSpPr>
          <p:cNvPr id="101" name="Cronograma XML 2026">
            <a:extLst xmlns:a="http://schemas.openxmlformats.org/drawingml/2006/main">
              <a:ext uri="{FF2B5EF4-FFF2-40B4-BE49-F238E27FC236}">
                <a16:creationId xmlns:a16="http://schemas.microsoft.com/office/drawing/2014/main" id="{E60C04F4-BCDD-4E21-B24B-6EF45953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Cronograma XML 2026</a:t>
            </a:r>
          </a:p>
        </p:txBody>
      </p:sp>
      <p:sp>
        <p:nvSpPr>
          <p:cNvPr id="102" name="18 / 20">
            <a:extLst xmlns:a="http://schemas.openxmlformats.org/drawingml/2006/main">
              <a:ext uri="{FF2B5EF4-FFF2-40B4-BE49-F238E27FC236}">
                <a16:creationId xmlns:a16="http://schemas.microsoft.com/office/drawing/2014/main" id="{BCDE11EB-075F-48F4-AA21-C8D426F6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158293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6. Reportes y dashboard">
            <a:extLst xmlns:a="http://schemas.openxmlformats.org/drawingml/2006/main">
              <a:ext uri="{FF2B5EF4-FFF2-40B4-BE49-F238E27FC236}">
                <a16:creationId xmlns:a16="http://schemas.microsoft.com/office/drawing/2014/main" id="{7A5871CC-D7BB-411F-97D7-EE5BC5B0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812768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pPr>
            <a:r>
              <a: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rPr>
              <a:t>6. Reportes y dashboard</a:t>
            </a:r>
          </a:p>
        </p:txBody>
      </p:sp>
      <p:sp>
        <p:nvSpPr>
          <p:cNvPr id="2" name="31/08 al 25/09 de 2026  ·  20 días laborables">
            <a:extLst xmlns:a="http://schemas.openxmlformats.org/drawingml/2006/main">
              <a:ext uri="{FF2B5EF4-FFF2-40B4-BE49-F238E27FC236}">
                <a16:creationId xmlns:a16="http://schemas.microsoft.com/office/drawing/2014/main" id="{4C87DCA1-17CD-4D26-B121-D7BC07DA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382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31/08 al 25/09 de 2026  ·  20 días laborables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335F9-3961-4A1B-9C2F-C3BC0D6FF587}"/>
              </a:ext>
            </a:extLst>
          </p:cNvPr>
          <p:cNvGraphicFramePr/>
          <p:nvPr/>
        </p:nvGraphicFramePr>
        <p:xfrm>
          <a:off xmlns:a="http://schemas.openxmlformats.org/drawingml/2006/main" x="809625" y="1781175"/>
          <a:ext xmlns:a="http://schemas.openxmlformats.org/drawingml/2006/main" cx="710565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4076700"/>
                <a:gridCol w="590550"/>
                <a:gridCol w="981075"/>
                <a:gridCol w="981075"/>
              </a:tblGrid>
              <a:tr h="400050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 de tarea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Dur.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Inicio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Análisis de reportes requeridos por la empresa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31/08/26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03/09/26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Diseño de consultas y estructura del dashboard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04/09/26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08/09/26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reportes de pedidos, inventarios, pagos y asistencia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09/09/26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15/09/26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filtros por fechas, áreas, estados y clientes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16/09/26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18/09/26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Desarrollo de indicadores principales del dashboard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21/09/26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23/09/26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Pruebas y correcciones del módulo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24/09/26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25/09/26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DC060-3FDB-45BB-B306-B39972A0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8117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" name="31/08">
            <a:extLst xmlns:a="http://schemas.openxmlformats.org/drawingml/2006/main">
              <a:ext uri="{FF2B5EF4-FFF2-40B4-BE49-F238E27FC236}">
                <a16:creationId xmlns:a16="http://schemas.microsoft.com/office/drawing/2014/main" id="{DCAEDA1C-1B2A-46A3-94F5-AB5046DC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84003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31/08</a:t>
            </a:r>
          </a:p>
        </p:txBody>
      </p:sp>
      <p:sp>
        <p:nvSpPr>
          <p:cNvPr id="6" name="07/09">
            <a:extLst xmlns:a="http://schemas.openxmlformats.org/drawingml/2006/main">
              <a:ext uri="{FF2B5EF4-FFF2-40B4-BE49-F238E27FC236}">
                <a16:creationId xmlns:a16="http://schemas.microsoft.com/office/drawing/2014/main" id="{DFF05EF6-F491-44C0-862E-F40BC988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582" y="1876425"/>
            <a:ext cx="84003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07/09</a:t>
            </a:r>
          </a:p>
        </p:txBody>
      </p:sp>
      <p:sp>
        <p:nvSpPr>
          <p:cNvPr id="7" name="14/09">
            <a:extLst xmlns:a="http://schemas.openxmlformats.org/drawingml/2006/main">
              <a:ext uri="{FF2B5EF4-FFF2-40B4-BE49-F238E27FC236}">
                <a16:creationId xmlns:a16="http://schemas.microsoft.com/office/drawing/2014/main" id="{CEFA2774-6D43-4717-A8A8-D2384248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663" y="1876425"/>
            <a:ext cx="84003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14/09</a:t>
            </a:r>
          </a:p>
        </p:txBody>
      </p:sp>
      <p:sp>
        <p:nvSpPr>
          <p:cNvPr id="8" name="21/09">
            <a:extLst xmlns:a="http://schemas.openxmlformats.org/drawingml/2006/main">
              <a:ext uri="{FF2B5EF4-FFF2-40B4-BE49-F238E27FC236}">
                <a16:creationId xmlns:a16="http://schemas.microsoft.com/office/drawing/2014/main" id="{9525BB6E-C652-4E05-A31C-AAAE250E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45" y="1876425"/>
            <a:ext cx="59458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21/09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8F5A6-7E36-4627-8059-F42A3BE7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2C082-0252-4179-AD9F-95C151B6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D3A4F-01D1-4ABE-8CE9-73C2C810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13133-434E-4EB6-BEB3-07CEECB0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E823D-440D-41EA-89A6-FD3617FC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3093B-ADE8-4F02-A0E6-95D1EE23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01711-B87B-483E-B8FF-267C5E18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21812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BC4EB-D091-432C-A12E-1DAEF25E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F90A4-21DC-476B-BDFB-83D6F2AE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688AF-8A51-42BA-B79D-1BB96866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09BE0-9F84-4A03-AC86-7B9D0B36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60854-E152-48C6-820D-0D18B606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52675"/>
            <a:ext cx="490904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0BB4E-A34B-48FF-B709-9AE373CE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146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1495B-F1C4-4BD2-940E-1A280001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D551E-9896-4974-8785-7E99DD76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9F512-49A8-4C5E-BF91-F8A41D32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8CE59-B523-490A-B7F1-D8E93336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01AE9B-A893-4371-B508-D6DDEF81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BFA95-9BDF-427E-BA21-7F04E907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BD2838-C6C2-4A7F-ADE4-B9FBAFFB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27241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6AA3CF-4BD3-4868-BCD6-D9A38F58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CB7FFD-7FFA-45F5-BD30-66256BD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7EA2F-8BA3-4A31-8663-5ABFC0C6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EB04C4-E362-4D89-BD7D-48C01ED5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76A3D1-6B02-42F7-A84F-EBB12396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79" y="2895600"/>
            <a:ext cx="61363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FDD14C-8D69-471C-BF89-9DA0B547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575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4D331-64F0-45CA-8200-D7F09193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4A95CF-5A53-4E8A-9EBA-B963A61B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D36F55-72B3-45DF-BA1E-4AC0D1C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0F68BC-8509-4B2A-BCFA-FB695D6B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3CD4C9-AC68-485D-95E0-FCFE0603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B63D1B-EE79-4703-957F-C89DD3D6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6DCB5E-28C4-4550-84CA-FFF65E8F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326707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4EB4C2-95AE-4F0D-965B-E8677AE0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BFCEFB-C8DD-4AA4-B799-3635D97E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A6DDE1-59C2-46F0-A159-29F8A79E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0A5D1F-61A5-4858-902F-23E5D388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D98CEF-2892-48E4-93F6-A134F544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509" y="3438525"/>
            <a:ext cx="859082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73ED39-FBBB-4F64-A658-A334676D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004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900A54-3C46-4861-A2D0-F5AE88BD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7FD5FB-3C09-4AC7-85A0-F6946F4F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E7C341-7532-43CD-B7C2-159B79E6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CF8943-FAB4-48CA-9F0C-024AE89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38B2E0-BE95-48D6-8AFA-C9E11B4B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4F0250-2DF0-4A3A-ABBB-5D3879AB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EC8745-64CB-4FAD-A172-A1AEA409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381000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C55559-FA88-4CA3-9181-ABA237D9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A3C735-86C3-4A17-B550-86CBAF3C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3F097A-AE13-401E-A9B2-1AFC2158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D6AD39-9921-4261-B4B4-1CC4D872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55F734-5540-4B42-8FEB-0522A086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590" y="3981450"/>
            <a:ext cx="368178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83C236-AC6B-40AD-B372-DF8A4F9B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434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B72888-E432-4F01-867E-2BBED718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FB2E0F-C68C-47C0-8B12-2AAF66AF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7910F9-6BEB-4BB2-BB2C-1ED5DC1D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67CC3B-5F59-456B-970B-9E422BE4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A3BCF3-86EF-4754-BEE2-0F56390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3888DC-5825-4BD3-B07F-2CE7CA0D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9745F2-C9F7-4AC8-9226-9BFA868F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4352925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27C490-CB5F-41F9-BB4B-0B6C5B81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66AC717-8763-4F1D-A9FC-5AE0B616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FA891B-57BB-4E07-8880-EE8F38C2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A5FABF1-2137-4D4C-8A33-724889D8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72BE11-588A-456B-B535-0B078546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4524375"/>
            <a:ext cx="368178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0C3E1F-9933-4E53-BE6B-63074C44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863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B6FF12E-3287-44AB-BC36-354794CC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B83EA12-B0C4-4A76-9328-8D67BF77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605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75964B1-55DF-4AEF-9BBE-30B80507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31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7D2707E-40C8-4C89-9151-30BBF9A7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87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5F003DA-A473-4049-B58E-6F0567E8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0985A8-3215-4536-8FBA-AA75B4C5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768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64D6DC-501E-4899-989A-3C5B4FC1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494" y="4895850"/>
            <a:ext cx="12272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38455C4-A615-4017-AEEA-19BD71F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9311CE-90FD-4B63-925F-67117B20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057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CD0A96-CBDD-42C8-ADEB-AD07C408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138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FF70295-4E94-4F4C-BFAC-B80A388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220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E5AC0DF-D2E7-401C-ACC1-C4670BEE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398" y="5067300"/>
            <a:ext cx="245452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2EFE72-3EDF-44C1-A019-06BCC9B0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292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87" name="Duraciones según el XML: jornada de 8 h. Barr">
            <a:extLst xmlns:a="http://schemas.openxmlformats.org/drawingml/2006/main">
              <a:ext uri="{FF2B5EF4-FFF2-40B4-BE49-F238E27FC236}">
                <a16:creationId xmlns:a16="http://schemas.microsoft.com/office/drawing/2014/main" id="{6DDB5DEE-9730-4C48-9F2C-8243E583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Duraciones según el XML: jornada de 8 h. Barras = período programado, no porcentaje de avance.</a:t>
            </a:r>
          </a:p>
        </p:txBody>
      </p:sp>
      <p:sp>
        <p:nvSpPr>
          <p:cNvPr id="88" name="Cronograma XML 2026">
            <a:extLst xmlns:a="http://schemas.openxmlformats.org/drawingml/2006/main">
              <a:ext uri="{FF2B5EF4-FFF2-40B4-BE49-F238E27FC236}">
                <a16:creationId xmlns:a16="http://schemas.microsoft.com/office/drawing/2014/main" id="{5658B54B-1902-40C0-B0FE-6FD1C9A3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Cronograma XML 2026</a:t>
            </a:r>
          </a:p>
        </p:txBody>
      </p:sp>
      <p:sp>
        <p:nvSpPr>
          <p:cNvPr id="89" name="19 / 20">
            <a:extLst xmlns:a="http://schemas.openxmlformats.org/drawingml/2006/main">
              <a:ext uri="{FF2B5EF4-FFF2-40B4-BE49-F238E27FC236}">
                <a16:creationId xmlns:a16="http://schemas.microsoft.com/office/drawing/2014/main" id="{4913B856-DE1F-4641-A1EF-712E7CB4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464236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7. Integración, implementación y entrega">
            <a:extLst xmlns:a="http://schemas.openxmlformats.org/drawingml/2006/main">
              <a:ext uri="{FF2B5EF4-FFF2-40B4-BE49-F238E27FC236}">
                <a16:creationId xmlns:a16="http://schemas.microsoft.com/office/drawing/2014/main" id="{6BE740E9-6A8C-452E-AB01-9D3E576A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812768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defRPr>
            </a:pPr>
            <a:r>
              <a:rPr sz="3200" b="1">
                <a:solidFill>
                  <a:srgbClr val="7B1114"/>
                </a:solidFill>
                <a:latin typeface="Montserrat"/>
                <a:ea typeface="Montserrat"/>
                <a:cs typeface="Montserrat"/>
              </a:rPr>
              <a:t>7. Integración, implementación y entrega</a:t>
            </a:r>
          </a:p>
        </p:txBody>
      </p:sp>
      <p:sp>
        <p:nvSpPr>
          <p:cNvPr id="2" name="28/09 al 09/10 de 2026  ·  10 días laborables">
            <a:extLst xmlns:a="http://schemas.openxmlformats.org/drawingml/2006/main">
              <a:ext uri="{FF2B5EF4-FFF2-40B4-BE49-F238E27FC236}">
                <a16:creationId xmlns:a16="http://schemas.microsoft.com/office/drawing/2014/main" id="{6E5F428F-75A5-4DBF-8D2E-617BAA2F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3827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28/09 al 09/10 de 2026  ·  10 días laborables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69278-70B1-46B3-BC21-CF3EDEE141D1}"/>
              </a:ext>
            </a:extLst>
          </p:cNvPr>
          <p:cNvGraphicFramePr/>
          <p:nvPr/>
        </p:nvGraphicFramePr>
        <p:xfrm>
          <a:off xmlns:a="http://schemas.openxmlformats.org/drawingml/2006/main" x="809625" y="1781175"/>
          <a:ext xmlns:a="http://schemas.openxmlformats.org/drawingml/2006/main" cx="710565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4076700"/>
                <a:gridCol w="590550"/>
                <a:gridCol w="981075"/>
                <a:gridCol w="981075"/>
              </a:tblGrid>
              <a:tr h="400050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Nombre de tarea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Dur.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Inicio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T w="9525">
                      <a:solidFill>
                        <a:srgbClr val="F3E7DA"/>
                      </a:solidFill>
                      <a:prstDash val="solid"/>
                    </a:lnT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7B1114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Integración general de módulos del sistema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28/09/26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30/09/26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Pruebas generales del sistema completo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01/10/26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02/10/26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Corrección de errores finales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2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05/10/26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06/10/26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49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Preparación del entorno de implementación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07/10/26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07/10/26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Capacitación básica al personal de la empresa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08/10/26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08/10/26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51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3E7DA"/>
                      </a:solidFill>
                      <a:prstDash val="solid"/>
                    </a:lnL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Entrega final del sistema y documentación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350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1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09/10/26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ctr"/>
                      <a:r>
                        <a:rPr sz="1275" b="0">
                          <a:solidFill>
                            <a:srgbClr val="4D5866"/>
                          </a:solidFill>
                          <a:latin typeface="Open Sans"/>
                          <a:ea typeface="Open Sans"/>
                          <a:cs typeface="Open Sans"/>
                        </a:rPr>
                        <a:t>09/10/26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3E7DA"/>
                      </a:solidFill>
                      <a:prstDash val="solid"/>
                    </a:lnR>
                    <a:lnB w="9525">
                      <a:solidFill>
                        <a:srgbClr val="F3E7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A1A80-187D-4373-9558-A688511A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8117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5" name="28/09">
            <a:extLst xmlns:a="http://schemas.openxmlformats.org/drawingml/2006/main">
              <a:ext uri="{FF2B5EF4-FFF2-40B4-BE49-F238E27FC236}">
                <a16:creationId xmlns:a16="http://schemas.microsoft.com/office/drawing/2014/main" id="{C2917BC8-87B1-4A65-9C5E-39702555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184229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28/09</a:t>
            </a:r>
          </a:p>
        </p:txBody>
      </p:sp>
      <p:sp>
        <p:nvSpPr>
          <p:cNvPr id="6" name="05/10">
            <a:extLst xmlns:a="http://schemas.openxmlformats.org/drawingml/2006/main">
              <a:ext uri="{FF2B5EF4-FFF2-40B4-BE49-F238E27FC236}">
                <a16:creationId xmlns:a16="http://schemas.microsoft.com/office/drawing/2014/main" id="{6C3CC52C-BD88-46CB-8B66-54C5991B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844" y="1876425"/>
            <a:ext cx="131048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05/10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F0111-C11B-4B8C-8E70-AC49AEA2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57792-1965-4776-BAEC-576769C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506" y="2181225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96C13-BFCC-4F8F-8546-B96FEE7B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181225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1885C-2243-4B3D-A5D2-F5E4FB0C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5D042-A8F6-4205-84D0-13D8F272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319" y="21812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5299A-2B3F-42F1-B435-5F1ADE05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52675"/>
            <a:ext cx="797719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95C0B-5AFF-4629-90C5-D69F91B1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146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99ACE-661B-48F0-83B4-22586C05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7B5A0-63E5-491D-AEA7-BF53922E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506" y="2724150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B9001-885E-4B9C-AAF5-BB3E82D0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724150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B9B98-3D1A-42DD-9518-7E4C6BB6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86C12-7B5F-441C-B340-F60E4F66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319" y="27241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8B37C-8937-465A-84AE-DE9890E5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2895600"/>
            <a:ext cx="53181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4EF93-043B-4F42-93BF-BB56B10F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575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9902B-5E19-483C-A8AC-23CE4505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E6F36-8A80-4BB1-8D9C-498844A9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506" y="3267075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83109A-95EA-4420-8D8B-FC2786D1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267075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22533-6BE0-4A44-9383-2215F992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5E1DA-F150-44F8-BC86-05660375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319" y="326707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EC8A9-8239-4B46-9C78-9B9BF9CD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319" y="3438525"/>
            <a:ext cx="531812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CF6B73-2005-438F-9246-9B32F9AE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0047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B48520-5F85-47B2-A40F-BEDDA5B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EC6A86-E782-4BCE-A0D3-1E0FB72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506" y="3810000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C66C50-DAAE-4D12-A398-2F3D16E0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810000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5F0275-A1B5-4E36-973D-7BE6F838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EDDFB-0A05-42ED-A79B-8973641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319" y="381000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64D4E2-7AE4-4BC9-86E1-5A9A8455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131" y="3981450"/>
            <a:ext cx="26590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A3512A-2F25-4984-9E5F-CFFF0A82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434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EE4243-4EC5-4723-966C-6D2B4F1E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9B3E4D-1F35-46CB-988D-A878A5F3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506" y="4352925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5C8D4-19F9-4492-933E-65F57890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352925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D0077A-6AA1-4558-B6E7-29CCB713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2389FF-F35E-4658-BB54-750A2EF1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319" y="4352925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756C63-C5F1-43CC-AA29-228C3793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038" y="4524375"/>
            <a:ext cx="26590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B54816-1127-4CA6-B135-EC5C9D01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86325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54AA7B-72A2-4ADB-A17F-3566827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3190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3EEA86-48ED-4888-8E44-343AE88F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506" y="4895850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3D64BA-A99D-4BA5-AC06-BA372771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895850"/>
            <a:ext cx="265906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C46789-4B95-45D5-827A-552D123A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091317-0AFE-4365-A0BB-7E48939D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319" y="4895850"/>
            <a:ext cx="6668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CE1832-217E-4F63-AFE7-9175B00B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944" y="5067300"/>
            <a:ext cx="265906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96F0B0-D42A-4A7A-883C-6BD2DBBF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2925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A"/>
          </a:solidFill>
          <a:ln xmlns:a="http://schemas.openxmlformats.org/drawingml/2006/main" w="0">
            <a:noFill/>
          </a:ln>
        </p:spPr>
      </p:sp>
      <p:sp>
        <p:nvSpPr>
          <p:cNvPr id="49" name="Duraciones según el XML: jornada de 8 h. Barr">
            <a:extLst xmlns:a="http://schemas.openxmlformats.org/drawingml/2006/main">
              <a:ext uri="{FF2B5EF4-FFF2-40B4-BE49-F238E27FC236}">
                <a16:creationId xmlns:a16="http://schemas.microsoft.com/office/drawing/2014/main" id="{AA56F75B-BF0B-4109-92AE-8CD95312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Duraciones según el XML: jornada de 8 h. Barras = período programado, no porcentaje de avance.</a:t>
            </a:r>
          </a:p>
        </p:txBody>
      </p:sp>
      <p:sp>
        <p:nvSpPr>
          <p:cNvPr id="50" name="Cronograma XML 2026">
            <a:extLst xmlns:a="http://schemas.openxmlformats.org/drawingml/2006/main">
              <a:ext uri="{FF2B5EF4-FFF2-40B4-BE49-F238E27FC236}">
                <a16:creationId xmlns:a16="http://schemas.microsoft.com/office/drawing/2014/main" id="{84BD4511-7590-42E3-91E7-9F86F67B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defPPr>
            <a:lvl1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1pPr>
            <a:lvl2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2pPr>
            <a:lvl3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3pPr>
            <a:lvl4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4pPr>
            <a:lvl5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5pPr>
            <a:lvl6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6pPr>
            <a:lvl7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7pPr>
            <a:lvl8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8pPr>
            <a:lvl9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4D5866"/>
                </a:solidFill>
                <a:latin typeface="Open Sans"/>
                <a:ea typeface="Open Sans"/>
                <a:cs typeface="Open Sans"/>
              </a:rPr>
              <a:t>Cronograma XML 2026</a:t>
            </a:r>
          </a:p>
        </p:txBody>
      </p:sp>
      <p:sp>
        <p:nvSpPr>
          <p:cNvPr id="51" name="20 / 20">
            <a:extLst xmlns:a="http://schemas.openxmlformats.org/drawingml/2006/main">
              <a:ext uri="{FF2B5EF4-FFF2-40B4-BE49-F238E27FC236}">
                <a16:creationId xmlns:a16="http://schemas.microsoft.com/office/drawing/2014/main" id="{5947D6BA-A628-4B44-8050-9214511B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defPPr>
            <a:lvl1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1pPr>
            <a:lvl2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2pPr>
            <a:lvl3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3pPr>
            <a:lvl4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4pPr>
            <a:lvl5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5pPr>
            <a:lvl6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6pPr>
            <a:lvl7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7pPr>
            <a:lvl8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8pPr>
            <a:lvl9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7B1114"/>
                </a:solidFill>
                <a:latin typeface="Open Sans"/>
                <a:ea typeface="Open Sans"/>
                <a:cs typeface="Open Sans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857417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2026-10-21T03:22:54.6480000Z</dcterms:created>
  <dcterms:modified xsi:type="dcterms:W3CDTF">2026-10-21T03:22:54.6480000Z</dcterms:modified>
</coreProperties>
</file>